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8202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8202B"/>
                </a:solidFill>
                <a:latin typeface="Arial"/>
              </a:rPr>
              <a:t>Class Balance (post-exclusion)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Encounters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820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F76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3B3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Not Readmitted</c:v>
                  </c:pt>
                  <c:pt idx="1">
                    <c:v>Readmitted &lt;30 days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88757</c:v>
                </c:pt>
                <c:pt idx="1">
                  <c:v>11357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820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F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1E33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0B5A5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5" name="Image 0" descr="icons/hospital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34440"/>
            <a:ext cx="685800" cy="685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331720"/>
            <a:ext cx="9875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30-Day Hospital Readmission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3429000"/>
            <a:ext cx="8961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leakage-aware, interpretable, and fairness-audited machine learning pipeline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UCI Diabetes 130-US Hospitals dataset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41248" y="4434840"/>
            <a:ext cx="2011680" cy="0"/>
          </a:xfrm>
          <a:prstGeom prst="line">
            <a:avLst/>
          </a:prstGeom>
          <a:noFill/>
          <a:ln w="31750">
            <a:solidFill>
              <a:srgbClr val="0F766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Project  |  Hospital Readmission Risk Analytics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" name="Image 0" descr="icons/hospital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384048"/>
            <a:ext cx="105457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&amp; Why It Matters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3291840" cy="155448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457200" y="1572768"/>
            <a:ext cx="3291840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$26B/yr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548640" y="2395728"/>
            <a:ext cx="3108960" cy="5907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annual US cost of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preventable hospital readmissions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931920" y="1463040"/>
            <a:ext cx="3291840" cy="155448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3931920" y="1572768"/>
            <a:ext cx="3291840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7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HRRP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4023360" y="2395728"/>
            <a:ext cx="3108960" cy="5907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Medicare penalizes hospitals for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excess 30-day readmissions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406640" y="1463040"/>
            <a:ext cx="4297680" cy="155448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406640" y="1572768"/>
            <a:ext cx="4297680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HF • COPD • Pneumonia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7498080" y="2395728"/>
            <a:ext cx="4114800" cy="5907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 most heavily targeted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readmission penalty programs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337560"/>
            <a:ext cx="11247120" cy="2788920"/>
          </a:xfrm>
          <a:prstGeom prst="roundRect">
            <a:avLst>
              <a:gd name="adj" fmla="val 262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35661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Goal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77240" y="397764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 which patients are at risk of readmission within 30 days of discharge, using structured EHR data — </a:t>
            </a:r>
            <a:pPr indent="0" marL="0">
              <a:lnSpc>
                <a:spcPct val="130000"/>
              </a:lnSpc>
              <a:buNone/>
            </a:pPr>
            <a:r>
              <a:rPr lang="en-US" sz="165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translate that risk score into a concrete, tiered clinical intervention</a:t>
            </a:r>
            <a:pPr indent="0" marL="0">
              <a:lnSpc>
                <a:spcPct val="130000"/>
              </a:lnSpc>
              <a:buNone/>
            </a:pPr>
            <a:r>
              <a:rPr lang="en-US" sz="16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just a number.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822960" y="5074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leak-free, honestly-evaluated predictive model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217920" y="5074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predictions with SHAP — not a black box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22960" y="55321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and mitigate demographic performance gaps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217920" y="55321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 real intervention &amp; deployment pathway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Readmission Risk Prediction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" name="Image 0" descr="icons/databas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384048"/>
            <a:ext cx="105457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Overview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1188720" y="914400"/>
            <a:ext cx="105457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UCI Diabetes 130-US Hospitals Dataset (1999–2008)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1508760"/>
            <a:ext cx="269748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1618488"/>
            <a:ext cx="2697480" cy="7795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101,766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48640" y="2359152"/>
            <a:ext cx="2514600" cy="5385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inpatient encounters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91840" y="1508760"/>
            <a:ext cx="269748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291840" y="1618488"/>
            <a:ext cx="2697480" cy="7795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71,518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3383280" y="2359152"/>
            <a:ext cx="2514600" cy="5385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patients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26480" y="1508760"/>
            <a:ext cx="269748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126480" y="1618488"/>
            <a:ext cx="2697480" cy="7795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7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217920" y="2359152"/>
            <a:ext cx="2514600" cy="5385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with multiple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encounters (leakage risk)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961120" y="150876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961120" y="1618488"/>
            <a:ext cx="2743200" cy="7795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7.96 : 1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9052560" y="2359152"/>
            <a:ext cx="2560320" cy="5385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imbalance ratio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(not-readmitted : readmitted)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5720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patient overlap matters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" y="3611880"/>
            <a:ext cx="5486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16,773 patients appear more than once in the data. A naive random split can place the same patient's encounters in both training and test sets — letting the model partially memorize patient identity instead of learning genuine risk patterns.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263640" y="3246120"/>
            <a:ext cx="5440680" cy="2331720"/>
          </a:xfrm>
          <a:prstGeom prst="roundRect">
            <a:avLst>
              <a:gd name="adj" fmla="val 3137"/>
            </a:avLst>
          </a:prstGeom>
          <a:solidFill>
            <a:srgbClr val="E9F5F3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37960" y="34290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fix: patient-grouped splitting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37960" y="384048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Stratified 70 / 15 / 15 train–validation–test split, grouped by patient_nbr — verified with zero patient overlap across all three splits.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57200" y="589788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30-day target: 11,357 readmitted vs. 90,409 not readmitted (pre-filtering)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Readmission Risk Prediction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" name="Image 0" descr="icons/filter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384048"/>
            <a:ext cx="105457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 &amp; Preprocessing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data — handled by type, not blindly imputed</a:t>
            </a:r>
            <a:endParaRPr lang="en-US" sz="14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5486400" cy="228600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A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Treatment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A5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96.9%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Dropped → kept as binary flag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max_glu_serum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Dropped → kept as binary flag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A1Cresult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Dropped → kept as binary flag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medical_specialty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Explicit “Unknown” category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payer_code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39.6%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Explicit “Unknown” category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6263640" y="1417320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Removing a hidden artifact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6263640" y="1828800"/>
            <a:ext cx="5440680" cy="1965960"/>
          </a:xfrm>
          <a:prstGeom prst="roundRect">
            <a:avLst>
              <a:gd name="adj" fmla="val 3721"/>
            </a:avLst>
          </a:prstGeom>
          <a:solidFill>
            <a:srgbClr val="FBEAEA"/>
          </a:solidFill>
          <a:ln w="12700">
            <a:solidFill>
              <a:srgbClr val="C23B3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537960" y="2011680"/>
            <a:ext cx="4892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Discharge codes 11, 19, 20, 21 denote patient death. A deceased patient cannot be readmitted — keeping these rows creates a spurious “never-readmitted” signal that distorts both the model and later fairness comparisons.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6537960" y="324612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Removed 1,652 of 101,766 encounters (1.62%)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457200" y="43434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engineering &amp; split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457200" y="4754880"/>
            <a:ext cx="3611880" cy="1051560"/>
          </a:xfrm>
          <a:prstGeom prst="roundRect">
            <a:avLst>
              <a:gd name="adj" fmla="val 60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9436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num_med_changes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594360" y="51206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Collapses ~20 near-constant drug columns into one meaningful signal</a:t>
            </a:r>
            <a:endParaRPr lang="en-US" sz="1080" dirty="0"/>
          </a:p>
        </p:txBody>
      </p:sp>
      <p:sp>
        <p:nvSpPr>
          <p:cNvPr id="15" name="Shape 11"/>
          <p:cNvSpPr/>
          <p:nvPr/>
        </p:nvSpPr>
        <p:spPr>
          <a:xfrm>
            <a:off x="4233672" y="4754880"/>
            <a:ext cx="3611880" cy="1051560"/>
          </a:xfrm>
          <a:prstGeom prst="roundRect">
            <a:avLst>
              <a:gd name="adj" fmla="val 60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370832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total_visits_prior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4370832" y="51206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 of prior outpatient, emergency, and inpatient visits</a:t>
            </a:r>
            <a:endParaRPr lang="en-US" sz="1080" dirty="0"/>
          </a:p>
        </p:txBody>
      </p:sp>
      <p:sp>
        <p:nvSpPr>
          <p:cNvPr id="18" name="Shape 14"/>
          <p:cNvSpPr/>
          <p:nvPr/>
        </p:nvSpPr>
        <p:spPr>
          <a:xfrm>
            <a:off x="8010144" y="4754880"/>
            <a:ext cx="3611880" cy="1051560"/>
          </a:xfrm>
          <a:prstGeom prst="roundRect">
            <a:avLst>
              <a:gd name="adj" fmla="val 60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47304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Patient-grouped 70/15/15 split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8147304" y="51206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patient overlap across train, validation, and test</a:t>
            </a:r>
            <a:endParaRPr lang="en-US" sz="1080" dirty="0"/>
          </a:p>
        </p:txBody>
      </p:sp>
      <p:sp>
        <p:nvSpPr>
          <p:cNvPr id="21" name="Text 1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Readmission Risk Prediction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" name="Image 0" descr="icons/chart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384048"/>
            <a:ext cx="105457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 Analysis: A Hard, Imbalanced Problem</a:t>
            </a:r>
            <a:endParaRPr lang="en-US" sz="27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54864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6263640" y="1463040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predictive signals found in EDA</a:t>
            </a:r>
            <a:endParaRPr lang="en-US" sz="1450" dirty="0"/>
          </a:p>
        </p:txBody>
      </p:sp>
      <p:sp>
        <p:nvSpPr>
          <p:cNvPr id="7" name="Shape 3"/>
          <p:cNvSpPr/>
          <p:nvPr/>
        </p:nvSpPr>
        <p:spPr>
          <a:xfrm>
            <a:off x="6263640" y="1965960"/>
            <a:ext cx="5440680" cy="658368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46520" y="1965960"/>
            <a:ext cx="5074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inpatient visits (number_inpatient) show the clearest separation between classes</a:t>
            </a:r>
            <a:endParaRPr lang="en-US" sz="1180" dirty="0"/>
          </a:p>
        </p:txBody>
      </p:sp>
      <p:sp>
        <p:nvSpPr>
          <p:cNvPr id="9" name="Shape 5"/>
          <p:cNvSpPr/>
          <p:nvPr/>
        </p:nvSpPr>
        <p:spPr>
          <a:xfrm>
            <a:off x="6263640" y="2743200"/>
            <a:ext cx="5440680" cy="658368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446520" y="2743200"/>
            <a:ext cx="5074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Longer time_in_hospital correlates with lower same-admission risk of quick return</a:t>
            </a:r>
            <a:endParaRPr lang="en-US" sz="1180" dirty="0"/>
          </a:p>
        </p:txBody>
      </p:sp>
      <p:sp>
        <p:nvSpPr>
          <p:cNvPr id="11" name="Shape 7"/>
          <p:cNvSpPr/>
          <p:nvPr/>
        </p:nvSpPr>
        <p:spPr>
          <a:xfrm>
            <a:off x="6263640" y="3520440"/>
            <a:ext cx="5440680" cy="658368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46520" y="3520440"/>
            <a:ext cx="5074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correlation is modest overall — no single feature dominates linearly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6263640" y="4297680"/>
            <a:ext cx="5440680" cy="658368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46520" y="4297680"/>
            <a:ext cx="5074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need for a non-trivial model, not simple rule-based scoring</a:t>
            </a:r>
            <a:endParaRPr lang="en-US" sz="1180" dirty="0"/>
          </a:p>
        </p:txBody>
      </p:sp>
      <p:sp>
        <p:nvSpPr>
          <p:cNvPr id="15" name="Text 11"/>
          <p:cNvSpPr/>
          <p:nvPr/>
        </p:nvSpPr>
        <p:spPr>
          <a:xfrm>
            <a:off x="457200" y="5257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Imbalance ratio: 7.83 : 1 after excluding expired-patient encounters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Readmission Risk Prediction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" name="Image 0" descr="icons/brain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384048"/>
            <a:ext cx="105457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Modeling Approach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633472" cy="1143000"/>
          </a:xfrm>
          <a:prstGeom prst="roundRect">
            <a:avLst>
              <a:gd name="adj" fmla="val 64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1572768"/>
            <a:ext cx="2450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48640" y="2057400"/>
            <a:ext cx="2450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baseline (mandatory)</a:t>
            </a:r>
            <a:endParaRPr lang="en-US" sz="1080" dirty="0"/>
          </a:p>
        </p:txBody>
      </p:sp>
      <p:sp>
        <p:nvSpPr>
          <p:cNvPr id="8" name="Shape 5"/>
          <p:cNvSpPr/>
          <p:nvPr/>
        </p:nvSpPr>
        <p:spPr>
          <a:xfrm>
            <a:off x="3273552" y="1463040"/>
            <a:ext cx="2633472" cy="1143000"/>
          </a:xfrm>
          <a:prstGeom prst="roundRect">
            <a:avLst>
              <a:gd name="adj" fmla="val 64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364992" y="1572768"/>
            <a:ext cx="2450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3364992" y="2057400"/>
            <a:ext cx="2450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Bagged ensemble</a:t>
            </a:r>
            <a:endParaRPr lang="en-US" sz="1080" dirty="0"/>
          </a:p>
        </p:txBody>
      </p:sp>
      <p:sp>
        <p:nvSpPr>
          <p:cNvPr id="11" name="Shape 8"/>
          <p:cNvSpPr/>
          <p:nvPr/>
        </p:nvSpPr>
        <p:spPr>
          <a:xfrm>
            <a:off x="6089904" y="1463040"/>
            <a:ext cx="2633472" cy="1143000"/>
          </a:xfrm>
          <a:prstGeom prst="roundRect">
            <a:avLst>
              <a:gd name="adj" fmla="val 64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81344" y="1572768"/>
            <a:ext cx="2450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Tree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181344" y="2057400"/>
            <a:ext cx="2450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Interpretable tree baseline</a:t>
            </a:r>
            <a:endParaRPr lang="en-US" sz="1080" dirty="0"/>
          </a:p>
        </p:txBody>
      </p:sp>
      <p:sp>
        <p:nvSpPr>
          <p:cNvPr id="14" name="Shape 11"/>
          <p:cNvSpPr/>
          <p:nvPr/>
        </p:nvSpPr>
        <p:spPr>
          <a:xfrm>
            <a:off x="8906256" y="1463040"/>
            <a:ext cx="2633472" cy="1143000"/>
          </a:xfrm>
          <a:prstGeom prst="roundRect">
            <a:avLst>
              <a:gd name="adj" fmla="val 6400"/>
            </a:avLst>
          </a:prstGeom>
          <a:solidFill>
            <a:srgbClr val="E9F5F3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97696" y="1572768"/>
            <a:ext cx="2450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XGBoost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997696" y="2057400"/>
            <a:ext cx="2450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Gradient-boosted ensemble</a:t>
            </a:r>
            <a:endParaRPr lang="en-US" sz="1080" dirty="0"/>
          </a:p>
        </p:txBody>
      </p:sp>
      <p:sp>
        <p:nvSpPr>
          <p:cNvPr id="17" name="Text 14"/>
          <p:cNvSpPr/>
          <p:nvPr/>
        </p:nvSpPr>
        <p:spPr>
          <a:xfrm>
            <a:off x="457200" y="269748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Regression, Random Forest, and XGBoost tuned via GridSearchCV • Stratified 5-fold cross-validation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57200" y="3246120"/>
            <a:ext cx="11247120" cy="2880360"/>
          </a:xfrm>
          <a:prstGeom prst="roundRect">
            <a:avLst>
              <a:gd name="adj" fmla="val 2540"/>
            </a:avLst>
          </a:prstGeom>
          <a:solidFill>
            <a:srgbClr val="FFF7E8"/>
          </a:solidFill>
          <a:ln w="12700">
            <a:solidFill>
              <a:srgbClr val="C77D0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7240" y="345643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leakage bug we found — and fixed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77240" y="388620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SMOTE was originally applied once, globally, before cross-validation. Synthetic minority samples could then leak across fold boundaries — Random Forest and Decision Tree showed 90%+ recall during cross-validation, but under 5% recall on the untouched validation set.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777240" y="4892040"/>
            <a:ext cx="10607040" cy="0"/>
          </a:xfrm>
          <a:prstGeom prst="line">
            <a:avLst/>
          </a:prstGeom>
          <a:noFill/>
          <a:ln w="12700">
            <a:solidFill>
              <a:srgbClr val="E8D9B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502920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fix:  </a:t>
            </a:r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SMOTE moved inside an imblearn Pipeline, refit fresh within every CV fold and every GridSearchCV inner fold — no synthetic sample ever crosses a fold boundary.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Readmission Risk Prediction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" name="Image 0" descr="icons/layers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384048"/>
            <a:ext cx="105457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Pipeline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1188720" y="914400"/>
            <a:ext cx="105457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encounters to a deployed, calibrated risk score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2542032" cy="1051560"/>
          </a:xfrm>
          <a:prstGeom prst="roundRect">
            <a:avLst>
              <a:gd name="adj" fmla="val 6957"/>
            </a:avLst>
          </a:prstGeom>
          <a:solidFill>
            <a:srgbClr val="E9F5F3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1709928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data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2075688"/>
            <a:ext cx="232257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101,766 encounters, 50 columns</a:t>
            </a:r>
            <a:endParaRPr lang="en-US" sz="980" dirty="0"/>
          </a:p>
        </p:txBody>
      </p:sp>
      <p:sp>
        <p:nvSpPr>
          <p:cNvPr id="9" name="Shape 6"/>
          <p:cNvSpPr/>
          <p:nvPr/>
        </p:nvSpPr>
        <p:spPr>
          <a:xfrm>
            <a:off x="2999232" y="2125980"/>
            <a:ext cx="256032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255264" y="1600200"/>
            <a:ext cx="2542032" cy="1051560"/>
          </a:xfrm>
          <a:prstGeom prst="roundRect">
            <a:avLst>
              <a:gd name="adj" fmla="val 6957"/>
            </a:avLst>
          </a:prstGeom>
          <a:solidFill>
            <a:srgbClr val="E9F5F3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64992" y="1709928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Cleaning &amp; filtering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364992" y="2075688"/>
            <a:ext cx="232257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near-empty fields, remove expired-patient rows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5797296" y="2125980"/>
            <a:ext cx="256032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053328" y="1600200"/>
            <a:ext cx="2542032" cy="1051560"/>
          </a:xfrm>
          <a:prstGeom prst="roundRect">
            <a:avLst>
              <a:gd name="adj" fmla="val 6957"/>
            </a:avLst>
          </a:prstGeom>
          <a:solidFill>
            <a:srgbClr val="E9F5F3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163056" y="1709928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engineering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163056" y="2075688"/>
            <a:ext cx="232257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num_med_changes, total_visits_prior, encodings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8595360" y="2125980"/>
            <a:ext cx="256032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8851392" y="1600200"/>
            <a:ext cx="2542032" cy="1051560"/>
          </a:xfrm>
          <a:prstGeom prst="roundRect">
            <a:avLst>
              <a:gd name="adj" fmla="val 6957"/>
            </a:avLst>
          </a:prstGeom>
          <a:solidFill>
            <a:srgbClr val="E9F5F3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961120" y="1709928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Patient-grouped split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8961120" y="2075688"/>
            <a:ext cx="232257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/ 15 / 15, zero patient overlap</a:t>
            </a:r>
            <a:endParaRPr lang="en-US" sz="980" dirty="0"/>
          </a:p>
        </p:txBody>
      </p:sp>
      <p:sp>
        <p:nvSpPr>
          <p:cNvPr id="21" name="Shape 18"/>
          <p:cNvSpPr/>
          <p:nvPr/>
        </p:nvSpPr>
        <p:spPr>
          <a:xfrm>
            <a:off x="1920240" y="2651760"/>
            <a:ext cx="0" cy="32004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457200" y="3291840"/>
            <a:ext cx="2542032" cy="1051560"/>
          </a:xfrm>
          <a:prstGeom prst="roundRect">
            <a:avLst>
              <a:gd name="adj" fmla="val 6957"/>
            </a:avLst>
          </a:prstGeom>
          <a:solidFill>
            <a:srgbClr val="FFF7E8"/>
          </a:solidFill>
          <a:ln w="12700">
            <a:solidFill>
              <a:srgbClr val="C77D0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3401568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7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SMOTE inside CV folds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767328"/>
            <a:ext cx="232257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imblearn Pipeline — no leakage across folds</a:t>
            </a:r>
            <a:endParaRPr lang="en-US" sz="980" dirty="0"/>
          </a:p>
        </p:txBody>
      </p:sp>
      <p:sp>
        <p:nvSpPr>
          <p:cNvPr id="25" name="Shape 22"/>
          <p:cNvSpPr/>
          <p:nvPr/>
        </p:nvSpPr>
        <p:spPr>
          <a:xfrm>
            <a:off x="2999232" y="3817620"/>
            <a:ext cx="256032" cy="0"/>
          </a:xfrm>
          <a:prstGeom prst="line">
            <a:avLst/>
          </a:prstGeom>
          <a:noFill/>
          <a:ln w="19050">
            <a:solidFill>
              <a:srgbClr val="C77D0A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3255264" y="3291840"/>
            <a:ext cx="2542032" cy="1051560"/>
          </a:xfrm>
          <a:prstGeom prst="roundRect">
            <a:avLst>
              <a:gd name="adj" fmla="val 6957"/>
            </a:avLst>
          </a:prstGeom>
          <a:solidFill>
            <a:srgbClr val="FFF7E8"/>
          </a:solidFill>
          <a:ln w="12700">
            <a:solidFill>
              <a:srgbClr val="C77D0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364992" y="3401568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7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4 models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3364992" y="3767328"/>
            <a:ext cx="232257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Regression, RF, Decision Tree, XGBoost</a:t>
            </a:r>
            <a:endParaRPr lang="en-US" sz="980" dirty="0"/>
          </a:p>
        </p:txBody>
      </p:sp>
      <p:sp>
        <p:nvSpPr>
          <p:cNvPr id="29" name="Shape 26"/>
          <p:cNvSpPr/>
          <p:nvPr/>
        </p:nvSpPr>
        <p:spPr>
          <a:xfrm>
            <a:off x="5797296" y="3817620"/>
            <a:ext cx="256032" cy="0"/>
          </a:xfrm>
          <a:prstGeom prst="line">
            <a:avLst/>
          </a:prstGeom>
          <a:noFill/>
          <a:ln w="19050">
            <a:solidFill>
              <a:srgbClr val="C77D0A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6053328" y="3291840"/>
            <a:ext cx="2542032" cy="1051560"/>
          </a:xfrm>
          <a:prstGeom prst="roundRect">
            <a:avLst>
              <a:gd name="adj" fmla="val 6957"/>
            </a:avLst>
          </a:prstGeom>
          <a:solidFill>
            <a:srgbClr val="FFF7E8"/>
          </a:solidFill>
          <a:ln w="12700">
            <a:solidFill>
              <a:srgbClr val="C77D0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163056" y="3401568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7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GridSearchCV tuning</a:t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6163056" y="3767328"/>
            <a:ext cx="232257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of 4 models tuned, stratified 5-fold CV</a:t>
            </a:r>
            <a:endParaRPr lang="en-US" sz="980" dirty="0"/>
          </a:p>
        </p:txBody>
      </p:sp>
      <p:sp>
        <p:nvSpPr>
          <p:cNvPr id="33" name="Shape 30"/>
          <p:cNvSpPr/>
          <p:nvPr/>
        </p:nvSpPr>
        <p:spPr>
          <a:xfrm>
            <a:off x="8595360" y="3817620"/>
            <a:ext cx="256032" cy="0"/>
          </a:xfrm>
          <a:prstGeom prst="line">
            <a:avLst/>
          </a:prstGeom>
          <a:noFill/>
          <a:ln w="19050">
            <a:solidFill>
              <a:srgbClr val="C77D0A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8851392" y="3291840"/>
            <a:ext cx="2542032" cy="1051560"/>
          </a:xfrm>
          <a:prstGeom prst="roundRect">
            <a:avLst>
              <a:gd name="adj" fmla="val 6957"/>
            </a:avLst>
          </a:prstGeom>
          <a:solidFill>
            <a:srgbClr val="FFF7E8"/>
          </a:solidFill>
          <a:ln w="12700">
            <a:solidFill>
              <a:srgbClr val="C77D0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961120" y="3401568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7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selection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8961120" y="3767328"/>
            <a:ext cx="232257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Matched-recall comparison → XGBoost @ 0.12</a:t>
            </a:r>
            <a:endParaRPr lang="en-US" sz="980" dirty="0"/>
          </a:p>
        </p:txBody>
      </p:sp>
      <p:sp>
        <p:nvSpPr>
          <p:cNvPr id="37" name="Shape 34"/>
          <p:cNvSpPr/>
          <p:nvPr/>
        </p:nvSpPr>
        <p:spPr>
          <a:xfrm>
            <a:off x="5925312" y="4343400"/>
            <a:ext cx="0" cy="365760"/>
          </a:xfrm>
          <a:prstGeom prst="line">
            <a:avLst/>
          </a:prstGeom>
          <a:noFill/>
          <a:ln w="19050">
            <a:solidFill>
              <a:srgbClr val="C23B3B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3566160" y="502920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E9F5F3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703320" y="513892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model: XGBoost @ threshold 0.12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3703320" y="55321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ROC-AUC 0.679  •  Recall 63.7%  •  SHAP + fairness audited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Readmission Risk Prediction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" name="Image 0" descr="icons/tabl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384048"/>
            <a:ext cx="105457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Results — Validation Set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1188720" y="914400"/>
            <a:ext cx="105457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fixing the SMOTE cross-validation leakage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498080" cy="237744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280160"/>
                <a:gridCol w="1188720"/>
                <a:gridCol w="13716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A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A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A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A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ROC-AUC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A5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Logistic Regression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 Forest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Decision Tree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B5A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XGBoost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B5A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0.887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B5A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B5A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0.017*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5A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3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02336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at default 0.5 threshold — misleading in isolation, see next slide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8229600" y="1554480"/>
            <a:ext cx="3502152" cy="2743200"/>
          </a:xfrm>
          <a:prstGeom prst="roundRect">
            <a:avLst>
              <a:gd name="adj" fmla="val 2667"/>
            </a:avLst>
          </a:prstGeom>
          <a:solidFill>
            <a:srgbClr val="E9F5F3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458200" y="17373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ranking model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458200" y="210312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XGBoost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8458200" y="26974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ROC-AUC 0.679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8458200" y="315468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Highest area under the ROC curve of all four models — but its default-threshold recall is misleadingly low, addressed next.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57200" y="45720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5-fold cross-validated recall (mean): LR 0.578 • RF 0.211 • DT 0.175 • XGBoost 0.009 — all consistent with validation, confirming the leakage fix held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Readmission Risk Prediction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" name="Image 0" descr="icons/sliders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384048"/>
            <a:ext cx="105457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Selection: Recall Over Precision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11247120" cy="1417320"/>
          </a:xfrm>
          <a:prstGeom prst="roundRect">
            <a:avLst>
              <a:gd name="adj" fmla="val 5161"/>
            </a:avLst>
          </a:prstGeom>
          <a:solidFill>
            <a:srgbClr val="FBEAEA"/>
          </a:solidFill>
          <a:ln w="12700">
            <a:solidFill>
              <a:srgbClr val="C23B3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164592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C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cost asymmetry:  </a:t>
            </a:r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missed high-risk patient (false negative) can mean a preventable readmission. An unnecessary follow-up call (false positive) costs only staff time. This project deliberately optimizes for </a:t>
            </a:r>
            <a:pPr indent="0" marL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over precision.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54680"/>
          <a:ext cx="7498080" cy="22860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188720"/>
                <a:gridCol w="128016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A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A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A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A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ROC-AUC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A5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5A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XGBoost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B5A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B5A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B5A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B5A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Logistic Regression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 Forest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0.166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Decision Tree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0.160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45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548640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Compared at a matched recall of ~60–64%, so the comparison is fair across models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8229600" y="3154680"/>
            <a:ext cx="3502152" cy="2651760"/>
          </a:xfrm>
          <a:prstGeom prst="roundRect">
            <a:avLst>
              <a:gd name="adj" fmla="val 2759"/>
            </a:avLst>
          </a:prstGeom>
          <a:solidFill>
            <a:srgbClr val="E9F5F3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458200" y="33375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deployed model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458200" y="365760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XGBoost @ 0.12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458200" y="4160520"/>
            <a:ext cx="3063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3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recall (63.7%) and best ROC-AUC among all models at this operating point. Logistic Regression's precision edge (+0.07pp) is within noise — not a deciding factor.</a:t>
            </a:r>
            <a:endParaRPr lang="en-US" sz="1130" dirty="0"/>
          </a:p>
        </p:txBody>
      </p:sp>
      <p:sp>
        <p:nvSpPr>
          <p:cNvPr id="13" name="Text 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Readmission Risk Prediction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" name="Image 0" descr="icons/lightbulb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384048"/>
            <a:ext cx="105457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Interpretability: What Drives the Model?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1188720" y="914400"/>
            <a:ext cx="105457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 (SHapley Additive exPlanations) on the final XGBoost model</a:t>
            </a:r>
            <a:endParaRPr lang="en-US" sz="1300" dirty="0"/>
          </a:p>
        </p:txBody>
      </p:sp>
      <p:pic>
        <p:nvPicPr>
          <p:cNvPr id="6" name="Image 1" descr="deck_assets/shap_summary_pl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5394960" cy="50292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126480" y="150876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predictors, ranked by mean |SHAP value|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6126480" y="1965960"/>
            <a:ext cx="5577840" cy="658368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309360" y="204825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number_inpatient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6309360" y="231343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inpatient visits — strongest signal, matches clinical literature</a:t>
            </a:r>
            <a:endParaRPr lang="en-US" sz="1080" dirty="0"/>
          </a:p>
        </p:txBody>
      </p:sp>
      <p:sp>
        <p:nvSpPr>
          <p:cNvPr id="11" name="Shape 7"/>
          <p:cNvSpPr/>
          <p:nvPr/>
        </p:nvSpPr>
        <p:spPr>
          <a:xfrm>
            <a:off x="6126480" y="2743200"/>
            <a:ext cx="5577840" cy="658368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09360" y="282549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time_in_hospital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6309360" y="309067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stay length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6126480" y="3520440"/>
            <a:ext cx="5577840" cy="658368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309360" y="360273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age_ordinal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6309360" y="386791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age band</a:t>
            </a:r>
            <a:endParaRPr lang="en-US" sz="1080" dirty="0"/>
          </a:p>
        </p:txBody>
      </p:sp>
      <p:sp>
        <p:nvSpPr>
          <p:cNvPr id="17" name="Shape 13"/>
          <p:cNvSpPr/>
          <p:nvPr/>
        </p:nvSpPr>
        <p:spPr>
          <a:xfrm>
            <a:off x="6126480" y="4297680"/>
            <a:ext cx="5577840" cy="658368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309360" y="43799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num_procedures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6309360" y="464515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Procedures performed this stay</a:t>
            </a:r>
            <a:endParaRPr lang="en-US" sz="1080" dirty="0"/>
          </a:p>
        </p:txBody>
      </p:sp>
      <p:sp>
        <p:nvSpPr>
          <p:cNvPr id="20" name="Shape 16"/>
          <p:cNvSpPr/>
          <p:nvPr/>
        </p:nvSpPr>
        <p:spPr>
          <a:xfrm>
            <a:off x="6126480" y="5074920"/>
            <a:ext cx="5577840" cy="658368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309360" y="515721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discharge_disposition_id_1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6309360" y="542239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Discharged directly home</a:t>
            </a:r>
            <a:endParaRPr lang="en-US" sz="1080" dirty="0"/>
          </a:p>
        </p:txBody>
      </p:sp>
      <p:sp>
        <p:nvSpPr>
          <p:cNvPr id="23" name="Shape 19"/>
          <p:cNvSpPr/>
          <p:nvPr/>
        </p:nvSpPr>
        <p:spPr>
          <a:xfrm>
            <a:off x="6126480" y="5897880"/>
            <a:ext cx="5577840" cy="685800"/>
          </a:xfrm>
          <a:prstGeom prst="roundRect">
            <a:avLst>
              <a:gd name="adj" fmla="val 8000"/>
            </a:avLst>
          </a:prstGeom>
          <a:solidFill>
            <a:srgbClr val="FFF7E8"/>
          </a:solidFill>
          <a:ln w="12700">
            <a:solidFill>
              <a:srgbClr val="C77D0A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263640" y="5943600"/>
            <a:ext cx="5303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earlier version surfaced discharge_disposition_id_11 (“Expired”) in the top 10 — the artifact removed in preprocessing (see slide 4).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Readmission Risk Prediction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" name="Image 0" descr="icons/usermd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384048"/>
            <a:ext cx="105457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Study: A Patient the Model Missed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1188720" y="914400"/>
            <a:ext cx="105457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 waterfall — false negative example</a:t>
            </a:r>
            <a:endParaRPr lang="en-US" sz="1300" dirty="0"/>
          </a:p>
        </p:txBody>
      </p:sp>
      <p:pic>
        <p:nvPicPr>
          <p:cNvPr id="6" name="Image 1" descr="deck_assets/shap_waterfall_patient_B_false_negati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766560" cy="42793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452360" y="15087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patient slipped through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7452360" y="1920240"/>
            <a:ext cx="4251960" cy="3749040"/>
          </a:xfrm>
          <a:prstGeom prst="roundRect">
            <a:avLst>
              <a:gd name="adj" fmla="val 1951"/>
            </a:avLst>
          </a:prstGeom>
          <a:solidFill>
            <a:srgbClr val="FBEAEA"/>
          </a:solidFill>
          <a:ln w="12700">
            <a:solidFill>
              <a:srgbClr val="C23B3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680960" y="210312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3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patient was actually readmitted, but was scored low-risk. The model's strongest feature — prior inpatient visits — was below average for them, and an unusually long current stay reinforced a false impression of stability.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680960" y="3794760"/>
            <a:ext cx="3794760" cy="0"/>
          </a:xfrm>
          <a:prstGeom prst="line">
            <a:avLst/>
          </a:prstGeom>
          <a:noFill/>
          <a:ln w="12700">
            <a:solidFill>
              <a:srgbClr val="E9BFBF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0" y="397764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C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takeaway: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utilization history cannot capture clinical deterioration or social factors emerging after discharge — a genuine ceiling on what these features can predict.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Readmission Risk Prediction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" name="Image 0" descr="icons/balanc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384048"/>
            <a:ext cx="105457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Fairness Analysis: Recall Across Subgroups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1188720" y="914400"/>
            <a:ext cx="105457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Test-set recall at the deployed 0.12 threshold (overall = 0.641)</a:t>
            </a:r>
            <a:endParaRPr lang="en-US" sz="1300" dirty="0"/>
          </a:p>
        </p:txBody>
      </p:sp>
      <p:pic>
        <p:nvPicPr>
          <p:cNvPr id="6" name="Image 1" descr="deck_assets/fairness_recall_by_ra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5532120" cy="2880360"/>
          </a:xfrm>
          <a:prstGeom prst="rect">
            <a:avLst/>
          </a:prstGeom>
        </p:spPr>
      </p:pic>
      <p:pic>
        <p:nvPicPr>
          <p:cNvPr id="7" name="Image 2" descr="deck_assets/fairness_recall_by_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508760"/>
            <a:ext cx="5532120" cy="288036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457200" y="4572000"/>
            <a:ext cx="11247120" cy="1691640"/>
          </a:xfrm>
          <a:prstGeom prst="roundRect">
            <a:avLst>
              <a:gd name="adj" fmla="val 4324"/>
            </a:avLst>
          </a:prstGeom>
          <a:solidFill>
            <a:srgbClr val="FFF7E8"/>
          </a:solidFill>
          <a:ln w="12700">
            <a:solidFill>
              <a:srgbClr val="C77D0A"/>
            </a:solidFill>
            <a:prstDash val="solid"/>
          </a:ln>
        </p:spPr>
      </p:sp>
      <p:sp>
        <p:nvSpPr>
          <p:cNvPr id="9" name="Text 4"/>
          <p:cNvSpPr/>
          <p:nvPr/>
        </p:nvSpPr>
        <p:spPr>
          <a:xfrm>
            <a:off x="777240" y="475488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credible gap found: age band [50–60)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777240" y="5102352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3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 large, trustworthy sample (n=2,592), this group's recall is 0.530 vs. 0.641 overall — an 11-point real gap. The two largest race groups (African American, Caucasian; n&gt;2,700 each) sit at parity, ~0.65 recall each. Smaller subgroups (Asian, Hispanic, Unknown) trend lower, most likely reflecting underrepresentation rather than model bias.</a:t>
            </a:r>
            <a:endParaRPr lang="en-US" sz="1230" dirty="0"/>
          </a:p>
        </p:txBody>
      </p:sp>
      <p:sp>
        <p:nvSpPr>
          <p:cNvPr id="11" name="Text 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Readmission Risk Prediction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" name="Image 0" descr="icons/wrench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384048"/>
            <a:ext cx="105457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Mitigation: Subgroup Threshold Calibration</a:t>
            </a:r>
            <a:endParaRPr lang="en-US" sz="2700" dirty="0"/>
          </a:p>
        </p:txBody>
      </p:sp>
      <p:pic>
        <p:nvPicPr>
          <p:cNvPr id="5" name="Image 1" descr="deck_assets/fairness_threshold_calibration_comparis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040880" cy="44805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726680" y="150876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for [50–60)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7726680" y="192024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7726680" y="2029968"/>
            <a:ext cx="3977640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0.530 → 0.627</a:t>
            </a:r>
            <a:endParaRPr lang="en-US" sz="2600" dirty="0"/>
          </a:p>
        </p:txBody>
      </p:sp>
      <p:sp>
        <p:nvSpPr>
          <p:cNvPr id="9" name="Text 5"/>
          <p:cNvSpPr/>
          <p:nvPr/>
        </p:nvSpPr>
        <p:spPr>
          <a:xfrm>
            <a:off x="7818120" y="2633472"/>
            <a:ext cx="3794760" cy="451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improvement after lowering the group's threshold from 0.12 to 0.10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7726680" y="3246120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precision fell by ~1.6 percentage points (0.178 → 0.162)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726680" y="384048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BEAEA"/>
          </a:solidFill>
          <a:ln w="12700">
            <a:solidFill>
              <a:srgbClr val="C23B3B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55280" y="4023360"/>
            <a:ext cx="3520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caveat: recalibrating one age band shifted others — [70–80) and [80–90) recall declined. Per-subgroup thresholds are not a free lunch and require clinical and governance sign-off before deployment, not a silent statistical fix.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Readmission Risk Prediction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" name="Image 0" descr="icons/shield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384048"/>
            <a:ext cx="105457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&amp; Governance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5087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6916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HIPAA &amp; GDPR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De-identification, role-based access control, and full audit logging for any patient data used by the model.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72200" y="15087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16916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HL7 FHIR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46520" y="210312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standard hospital EHR systems would use to feed structured patient data into the model in production.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384048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consent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31520" y="443484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should be informed that an algorithmic risk assessment is part of their discharge planning.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172200" y="384048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Clinician override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446520" y="443484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is decision support, not an automated decision — a clinician can always override it using information the model cannot see.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Readmission Risk Prediction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" name="Image 0" descr="icons/layers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384048"/>
            <a:ext cx="105457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Risk Score to Clinical Action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1188720" y="914400"/>
            <a:ext cx="105457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data-driven risk tiers, justified by observed 30-day readmission rate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1508760"/>
            <a:ext cx="11247120" cy="1024128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6510">
            <a:solidFill>
              <a:srgbClr val="1E8E5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66928" y="1636776"/>
            <a:ext cx="146304" cy="768096"/>
          </a:xfrm>
          <a:prstGeom prst="roundRect">
            <a:avLst>
              <a:gd name="adj" fmla="val 18750"/>
            </a:avLst>
          </a:prstGeom>
          <a:solidFill>
            <a:srgbClr val="1E8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618488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8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Risk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8680" y="201168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[0.00–0.12)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926080" y="1618488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8,786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2926080" y="207568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251960" y="1618488"/>
            <a:ext cx="1234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8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6.9%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51960" y="21305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rate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623560" y="1508760"/>
            <a:ext cx="594360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discharge instructions, routine primary-care follow-up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2679192"/>
            <a:ext cx="11247120" cy="1024128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6510">
            <a:solidFill>
              <a:srgbClr val="C77D0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66928" y="2807208"/>
            <a:ext cx="146304" cy="768096"/>
          </a:xfrm>
          <a:prstGeom prst="roundRect">
            <a:avLst>
              <a:gd name="adj" fmla="val 18750"/>
            </a:avLst>
          </a:prstGeom>
          <a:solidFill>
            <a:srgbClr val="C77D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278892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Moderate Risk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68680" y="3182112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[0.12–0.20)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2926080" y="278892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4,367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2926080" y="32461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251960" y="2788920"/>
            <a:ext cx="1234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7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14.0%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4251960" y="330098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rate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5623560" y="2679192"/>
            <a:ext cx="594360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 call within 72 hrs + medication reconciliation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57200" y="3849624"/>
            <a:ext cx="11247120" cy="1024128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6510">
            <a:solidFill>
              <a:srgbClr val="D9612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6928" y="3977640"/>
            <a:ext cx="146304" cy="768096"/>
          </a:xfrm>
          <a:prstGeom prst="roundRect">
            <a:avLst>
              <a:gd name="adj" fmla="val 18750"/>
            </a:avLst>
          </a:prstGeom>
          <a:solidFill>
            <a:srgbClr val="D961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68680" y="3959352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6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Risk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868680" y="4352544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[0.20–0.35)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2926080" y="3959352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1,584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2926080" y="44165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4251960" y="3959352"/>
            <a:ext cx="1234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6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22.9%</a:t>
            </a:r>
            <a:endParaRPr lang="en-US" sz="1700" dirty="0"/>
          </a:p>
        </p:txBody>
      </p:sp>
      <p:sp>
        <p:nvSpPr>
          <p:cNvPr id="31" name="Text 28"/>
          <p:cNvSpPr/>
          <p:nvPr/>
        </p:nvSpPr>
        <p:spPr>
          <a:xfrm>
            <a:off x="4251960" y="4471416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rate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5623560" y="3849624"/>
            <a:ext cx="594360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BOOST: teach-back, pre-discharge appointment, 48-hr call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57200" y="5020056"/>
            <a:ext cx="11247120" cy="1024128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6510">
            <a:solidFill>
              <a:srgbClr val="C23B3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6928" y="5148072"/>
            <a:ext cx="146304" cy="768096"/>
          </a:xfrm>
          <a:prstGeom prst="roundRect">
            <a:avLst>
              <a:gd name="adj" fmla="val 18750"/>
            </a:avLst>
          </a:prstGeom>
          <a:solidFill>
            <a:srgbClr val="C23B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68680" y="5129784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High Risk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868680" y="5522976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[0.35–1.00]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2926080" y="5129784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260</a:t>
            </a:r>
            <a:endParaRPr lang="en-US" sz="1500" dirty="0"/>
          </a:p>
        </p:txBody>
      </p:sp>
      <p:sp>
        <p:nvSpPr>
          <p:cNvPr id="38" name="Text 35"/>
          <p:cNvSpPr/>
          <p:nvPr/>
        </p:nvSpPr>
        <p:spPr>
          <a:xfrm>
            <a:off x="2926080" y="558698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251960" y="5129784"/>
            <a:ext cx="1234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41.5%</a:t>
            </a:r>
            <a:endParaRPr lang="en-US" sz="1700" dirty="0"/>
          </a:p>
        </p:txBody>
      </p:sp>
      <p:sp>
        <p:nvSpPr>
          <p:cNvPr id="40" name="Text 37"/>
          <p:cNvSpPr/>
          <p:nvPr/>
        </p:nvSpPr>
        <p:spPr>
          <a:xfrm>
            <a:off x="4251960" y="564184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rate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5623560" y="5020056"/>
            <a:ext cx="594360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 Transitions Intervention: coach, 72-hr home visit, 30-day calls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in Project BOOST (Society of Hospital Medicine) and the Care Transitions Intervention model</a:t>
            </a:r>
            <a:endParaRPr lang="en-US" sz="1050" dirty="0"/>
          </a:p>
        </p:txBody>
      </p:sp>
      <p:sp>
        <p:nvSpPr>
          <p:cNvPr id="43" name="Text 4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Readmission Risk Prediction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" name="Image 0" descr="icons/server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384048"/>
            <a:ext cx="105457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Architecture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1188720" y="914400"/>
            <a:ext cx="105457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closed feedback loop, not a one-time launch</a:t>
            </a:r>
            <a:endParaRPr lang="en-US" sz="1300" dirty="0"/>
          </a:p>
        </p:txBody>
      </p:sp>
      <p:pic>
        <p:nvPicPr>
          <p:cNvPr id="6" name="Image 1" descr="deck_assets/architecture_diagra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11247120" cy="43342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Ingestion (HL7 FHIR)  →  Preprocessing (serialized pipeline)  →  Model serving (FastAPI/Docker)  →  Clinician dashboard  →  Selective alerting  →  Drift &amp; fairness monitoring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Readmission Risk Prediction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" name="Image 0" descr="icons/desktop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384048"/>
            <a:ext cx="105457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1188720" y="914400"/>
            <a:ext cx="105457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Streamlit application, publicly accessible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1508760"/>
            <a:ext cx="6858000" cy="4572000"/>
          </a:xfrm>
          <a:prstGeom prst="roundRect">
            <a:avLst>
              <a:gd name="adj" fmla="val 1600"/>
            </a:avLst>
          </a:prstGeom>
          <a:solidFill>
            <a:srgbClr val="0E162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508760"/>
            <a:ext cx="6858000" cy="365760"/>
          </a:xfrm>
          <a:prstGeom prst="roundRect">
            <a:avLst>
              <a:gd name="adj" fmla="val 20000"/>
            </a:avLst>
          </a:prstGeom>
          <a:solidFill>
            <a:srgbClr val="1B27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636776"/>
            <a:ext cx="109728" cy="109728"/>
          </a:xfrm>
          <a:prstGeom prst="ellipse">
            <a:avLst/>
          </a:prstGeom>
          <a:solidFill>
            <a:srgbClr val="C23B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96112" y="1636776"/>
            <a:ext cx="109728" cy="109728"/>
          </a:xfrm>
          <a:prstGeom prst="ellipse">
            <a:avLst/>
          </a:prstGeom>
          <a:solidFill>
            <a:srgbClr val="C77D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52144" y="1636776"/>
            <a:ext cx="109728" cy="109728"/>
          </a:xfrm>
          <a:prstGeom prst="ellipse">
            <a:avLst/>
          </a:prstGeom>
          <a:solidFill>
            <a:srgbClr val="1E8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2103120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30-Day Hospital Readmission Risk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22960" y="2743200"/>
            <a:ext cx="6126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30-day readmission probability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22960" y="29718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25.4%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822960" y="3794760"/>
            <a:ext cx="1828800" cy="502920"/>
          </a:xfrm>
          <a:prstGeom prst="roundRect">
            <a:avLst>
              <a:gd name="adj" fmla="val 50909"/>
            </a:avLst>
          </a:prstGeom>
          <a:solidFill>
            <a:srgbClr val="D961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7947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RISK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2960" y="4526280"/>
            <a:ext cx="6126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Recommended: Project BOOST-style structured discharge — teach-back education, appointment scheduled before discharge, and a follow-up call within 48 hours.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680960" y="16459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yourself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680960" y="2057400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E9F5F3"/>
          </a:solidFill>
          <a:ln w="16510">
            <a:solidFill>
              <a:srgbClr val="0F766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18120" y="214884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5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hospital-readmission-capstone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5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-aa44rabxhs6wftu3fn5sdy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5A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.streamlit.app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7680960" y="324612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 low-risk &amp; high-risk example patients</a:t>
            </a:r>
            <a:endParaRPr lang="en-US" sz="1180" dirty="0"/>
          </a:p>
        </p:txBody>
      </p:sp>
      <p:sp>
        <p:nvSpPr>
          <p:cNvPr id="21" name="Text 18"/>
          <p:cNvSpPr/>
          <p:nvPr/>
        </p:nvSpPr>
        <p:spPr>
          <a:xfrm>
            <a:off x="7680960" y="384048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editable form for any patient profile</a:t>
            </a:r>
            <a:endParaRPr lang="en-US" sz="1180" dirty="0"/>
          </a:p>
        </p:txBody>
      </p:sp>
      <p:sp>
        <p:nvSpPr>
          <p:cNvPr id="22" name="Text 19"/>
          <p:cNvSpPr/>
          <p:nvPr/>
        </p:nvSpPr>
        <p:spPr>
          <a:xfrm>
            <a:off x="7680960" y="443484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the real, saved preprocessing + XGBoost pipeline</a:t>
            </a:r>
            <a:endParaRPr lang="en-US" sz="1180" dirty="0"/>
          </a:p>
        </p:txBody>
      </p:sp>
      <p:sp>
        <p:nvSpPr>
          <p:cNvPr id="23" name="Text 20"/>
          <p:cNvSpPr/>
          <p:nvPr/>
        </p:nvSpPr>
        <p:spPr>
          <a:xfrm>
            <a:off x="7680960" y="502920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0B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probability, risk tier, and intervention text</a:t>
            </a:r>
            <a:endParaRPr lang="en-US" sz="1180" dirty="0"/>
          </a:p>
        </p:txBody>
      </p:sp>
      <p:sp>
        <p:nvSpPr>
          <p:cNvPr id="24" name="Shape 21"/>
          <p:cNvSpPr/>
          <p:nvPr/>
        </p:nvSpPr>
        <p:spPr>
          <a:xfrm>
            <a:off x="7680960" y="5623560"/>
            <a:ext cx="4023360" cy="457200"/>
          </a:xfrm>
          <a:prstGeom prst="roundRect">
            <a:avLst>
              <a:gd name="adj" fmla="val 12000"/>
            </a:avLst>
          </a:prstGeom>
          <a:solidFill>
            <a:srgbClr val="FBEAEA"/>
          </a:solidFill>
          <a:ln w="12700">
            <a:solidFill>
              <a:srgbClr val="C23B3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772400" y="56235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Decision-support prototype — not a validated clinical tool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Readmission Risk Prediction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" name="Image 0" descr="icons/warning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384048"/>
            <a:ext cx="105457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5087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6916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7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Modest performance ceiling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ROC-AUC of ~0.68 is consistent with published readmission-prediction literature — this is a genuinely hard problem, not an implementation shortfall.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72200" y="15087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16916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7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Small-subgroup uncertainty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446520" y="210312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Fairness metrics for the smallest race and age subgroups (n&lt;300) carry wide uncertainty and should not be over-interpreted as bias.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384048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7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 Very High Risk sample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31520" y="443484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260 test patients (n=31 at the extreme end) fall in this tier — its 41.5% observed rate is directionally reliable but less precise than other tiers.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72200" y="384048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7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calibration trade-offs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46520" y="443484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Fixing one subgroup's recall gap shifted performance in others — any per-group threshold needs governance review, not automatic deployment.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Readmission Risk Prediction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3" name="Image 0" descr="icons/check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53035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384048"/>
            <a:ext cx="1054577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 &amp; Key Takeaways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57200" y="1508760"/>
            <a:ext cx="411480" cy="411480"/>
          </a:xfrm>
          <a:prstGeom prst="roundRect">
            <a:avLst>
              <a:gd name="adj" fmla="val 48889"/>
            </a:avLst>
          </a:prstGeom>
          <a:solidFill>
            <a:srgbClr val="0F7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5087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490472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 leak-free, patient-grouped, honestly cross-validated readmission model — XGBoost at threshold 0.12, ROC-AUC 0.679, recall 63.7%</a:t>
            </a:r>
            <a:endParaRPr lang="en-US" sz="1330" dirty="0"/>
          </a:p>
        </p:txBody>
      </p:sp>
      <p:sp>
        <p:nvSpPr>
          <p:cNvPr id="8" name="Shape 5"/>
          <p:cNvSpPr/>
          <p:nvPr/>
        </p:nvSpPr>
        <p:spPr>
          <a:xfrm>
            <a:off x="457200" y="2221992"/>
            <a:ext cx="411480" cy="411480"/>
          </a:xfrm>
          <a:prstGeom prst="roundRect">
            <a:avLst>
              <a:gd name="adj" fmla="val 48889"/>
            </a:avLst>
          </a:prstGeom>
          <a:solidFill>
            <a:srgbClr val="0F7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2221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05840" y="2203704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and fixed a real SMOTE cross-validation leakage bug and a data artifact (expired patients) before finalizing the model</a:t>
            </a:r>
            <a:endParaRPr lang="en-US" sz="1330" dirty="0"/>
          </a:p>
        </p:txBody>
      </p:sp>
      <p:sp>
        <p:nvSpPr>
          <p:cNvPr id="11" name="Shape 8"/>
          <p:cNvSpPr/>
          <p:nvPr/>
        </p:nvSpPr>
        <p:spPr>
          <a:xfrm>
            <a:off x="457200" y="2935224"/>
            <a:ext cx="411480" cy="411480"/>
          </a:xfrm>
          <a:prstGeom prst="roundRect">
            <a:avLst>
              <a:gd name="adj" fmla="val 48889"/>
            </a:avLst>
          </a:prstGeom>
          <a:solidFill>
            <a:srgbClr val="0F7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293522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2916936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the model explainable with SHAP, including an honest false-negative case study, not just headline accuracy</a:t>
            </a:r>
            <a:endParaRPr lang="en-US" sz="1330" dirty="0"/>
          </a:p>
        </p:txBody>
      </p:sp>
      <p:sp>
        <p:nvSpPr>
          <p:cNvPr id="14" name="Shape 11"/>
          <p:cNvSpPr/>
          <p:nvPr/>
        </p:nvSpPr>
        <p:spPr>
          <a:xfrm>
            <a:off x="457200" y="3648456"/>
            <a:ext cx="411480" cy="411480"/>
          </a:xfrm>
          <a:prstGeom prst="roundRect">
            <a:avLst>
              <a:gd name="adj" fmla="val 48889"/>
            </a:avLst>
          </a:prstGeom>
          <a:solidFill>
            <a:srgbClr val="0F7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7200" y="364845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005840" y="3630168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Audited fairness across race, gender, and age; found and partially mitigated a real recall gap in the [50–60) age band</a:t>
            </a:r>
            <a:endParaRPr lang="en-US" sz="1330" dirty="0"/>
          </a:p>
        </p:txBody>
      </p:sp>
      <p:sp>
        <p:nvSpPr>
          <p:cNvPr id="17" name="Shape 14"/>
          <p:cNvSpPr/>
          <p:nvPr/>
        </p:nvSpPr>
        <p:spPr>
          <a:xfrm>
            <a:off x="457200" y="4361688"/>
            <a:ext cx="411480" cy="411480"/>
          </a:xfrm>
          <a:prstGeom prst="roundRect">
            <a:avLst>
              <a:gd name="adj" fmla="val 48889"/>
            </a:avLst>
          </a:prstGeom>
          <a:solidFill>
            <a:srgbClr val="0F7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436168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5840" y="4343400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Translated risk scores into 4 literature-grounded, actionable clinical intervention tiers</a:t>
            </a:r>
            <a:endParaRPr lang="en-US" sz="1330" dirty="0"/>
          </a:p>
        </p:txBody>
      </p:sp>
      <p:sp>
        <p:nvSpPr>
          <p:cNvPr id="20" name="Shape 17"/>
          <p:cNvSpPr/>
          <p:nvPr/>
        </p:nvSpPr>
        <p:spPr>
          <a:xfrm>
            <a:off x="457200" y="5074920"/>
            <a:ext cx="411480" cy="411480"/>
          </a:xfrm>
          <a:prstGeom prst="roundRect">
            <a:avLst>
              <a:gd name="adj" fmla="val 48889"/>
            </a:avLst>
          </a:prstGeom>
          <a:solidFill>
            <a:srgbClr val="0F7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7200" y="50749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05840" y="5056632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3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a full deployment architecture and shipped a working, publicly hosted demo application</a:t>
            </a:r>
            <a:endParaRPr lang="en-US" sz="1330" dirty="0"/>
          </a:p>
        </p:txBody>
      </p:sp>
      <p:sp>
        <p:nvSpPr>
          <p:cNvPr id="23" name="Text 2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Readmission Risk Prediction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206240"/>
            <a:ext cx="3657600" cy="3657600"/>
          </a:xfrm>
          <a:prstGeom prst="ellipse">
            <a:avLst/>
          </a:prstGeom>
          <a:solidFill>
            <a:srgbClr val="1E3358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" name="Image 0" descr="icons/boo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720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4114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097280" y="1234440"/>
            <a:ext cx="10607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 Kansagara, D., et al. (2011). Risk prediction models for hospital readmission: a systematic review. JAMA, 306(15), 1688–1698.</a:t>
            </a:r>
            <a:endParaRPr lang="en-US" sz="1130" dirty="0"/>
          </a:p>
        </p:txBody>
      </p:sp>
      <p:sp>
        <p:nvSpPr>
          <p:cNvPr id="6" name="Text 3"/>
          <p:cNvSpPr/>
          <p:nvPr/>
        </p:nvSpPr>
        <p:spPr>
          <a:xfrm>
            <a:off x="1097280" y="1691640"/>
            <a:ext cx="10607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 Strack, B., et al. (2014). Impact of HbA1c measurement on hospital readmission rates. BioMed Research International.</a:t>
            </a:r>
            <a:endParaRPr lang="en-US" sz="1130" dirty="0"/>
          </a:p>
        </p:txBody>
      </p:sp>
      <p:sp>
        <p:nvSpPr>
          <p:cNvPr id="7" name="Text 4"/>
          <p:cNvSpPr/>
          <p:nvPr/>
        </p:nvSpPr>
        <p:spPr>
          <a:xfrm>
            <a:off x="1097280" y="2148840"/>
            <a:ext cx="10607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 Chawla, N. V., et al. (2002). SMOTE: Synthetic Minority Over-sampling Technique. JAIR, 16, 321–357.</a:t>
            </a:r>
            <a:endParaRPr lang="en-US" sz="1130" dirty="0"/>
          </a:p>
        </p:txBody>
      </p:sp>
      <p:sp>
        <p:nvSpPr>
          <p:cNvPr id="8" name="Text 5"/>
          <p:cNvSpPr/>
          <p:nvPr/>
        </p:nvSpPr>
        <p:spPr>
          <a:xfrm>
            <a:off x="1097280" y="2606040"/>
            <a:ext cx="10607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  Lundberg, S. M., &amp; Lee, S.-I. (2017). A Unified Approach to Interpreting Model Predictions. NeurIPS.</a:t>
            </a:r>
            <a:endParaRPr lang="en-US" sz="1130" dirty="0"/>
          </a:p>
        </p:txBody>
      </p:sp>
      <p:sp>
        <p:nvSpPr>
          <p:cNvPr id="9" name="Text 6"/>
          <p:cNvSpPr/>
          <p:nvPr/>
        </p:nvSpPr>
        <p:spPr>
          <a:xfrm>
            <a:off x="1097280" y="3063240"/>
            <a:ext cx="10607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  Coleman, E. A., et al. (2006). The Care Transitions Intervention. Archives of Internal Medicine, 166(17), 1822–1828.</a:t>
            </a:r>
            <a:endParaRPr lang="en-US" sz="1130" dirty="0"/>
          </a:p>
        </p:txBody>
      </p:sp>
      <p:sp>
        <p:nvSpPr>
          <p:cNvPr id="10" name="Text 7"/>
          <p:cNvSpPr/>
          <p:nvPr/>
        </p:nvSpPr>
        <p:spPr>
          <a:xfrm>
            <a:off x="1097280" y="3520440"/>
            <a:ext cx="10607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  Society of Hospital Medicine. Project BOOST Implementation Guide.</a:t>
            </a:r>
            <a:endParaRPr lang="en-US" sz="1130" dirty="0"/>
          </a:p>
        </p:txBody>
      </p:sp>
      <p:sp>
        <p:nvSpPr>
          <p:cNvPr id="11" name="Text 8"/>
          <p:cNvSpPr/>
          <p:nvPr/>
        </p:nvSpPr>
        <p:spPr>
          <a:xfrm>
            <a:off x="1097280" y="3977640"/>
            <a:ext cx="10607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[7]  UCI Machine Learning Repository. Diabetes 130-US Hospitals for Years 1999–2008 Data Set.</a:t>
            </a:r>
            <a:endParaRPr lang="en-US" sz="1130" dirty="0"/>
          </a:p>
        </p:txBody>
      </p:sp>
      <p:sp>
        <p:nvSpPr>
          <p:cNvPr id="12" name="Shape 9"/>
          <p:cNvSpPr/>
          <p:nvPr/>
        </p:nvSpPr>
        <p:spPr>
          <a:xfrm>
            <a:off x="457200" y="4846320"/>
            <a:ext cx="1127455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50749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— Questions?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457200" y="5669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code, notebooks, results, and the live demo app are available in the project GitHub repository.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2026-07-29T11:12:51Z</dcterms:created>
  <dcterms:modified xsi:type="dcterms:W3CDTF">2026-07-29T11:12:51Z</dcterms:modified>
</cp:coreProperties>
</file>