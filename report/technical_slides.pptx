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18202B"/>
                </a:solidFill>
                <a:latin typeface="Arial"/>
              </a:defRPr>
            </a:pPr>
            <a:r>
              <a:rPr sz="1300" b="0" i="0" u="none" strike="noStrike">
                <a:solidFill>
                  <a:srgbClr val="18202B"/>
                </a:solidFill>
                <a:latin typeface="Arial"/>
              </a:rPr>
              <a:t>Class Balance (post-exclusion)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Encounters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820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F766E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C23B3B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Not Readmitted</c:v>
                  </c:pt>
                  <c:pt idx="1">
                    <c:v>Readmitted &lt;30 days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88757</c:v>
                </c:pt>
                <c:pt idx="1">
                  <c:v>11357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820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B7686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image-5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33F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206240" cy="4206240"/>
          </a:xfrm>
          <a:prstGeom prst="ellipse">
            <a:avLst/>
          </a:prstGeom>
          <a:solidFill>
            <a:srgbClr val="1E335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0B5A54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5" name="Image 0" descr="icons/hospital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234440"/>
            <a:ext cx="685800" cy="685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33172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Predicting 30-Day Hospital Readmission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822960" y="342900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leakage-aware, interpretable, and fairness-audited machine learning pipeline</a:t>
            </a:r>
            <a:endParaRPr lang="en-US" sz="16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the UCI Diabetes 130-US Hospitals dataset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41248" y="4434840"/>
            <a:ext cx="2011680" cy="0"/>
          </a:xfrm>
          <a:prstGeom prst="line">
            <a:avLst/>
          </a:prstGeom>
          <a:noFill/>
          <a:ln w="31750">
            <a:solidFill>
              <a:srgbClr val="0F766E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Capstone Project  |  Hospital Readmission Risk Analytics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hospital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&amp; Why It Matters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1572768"/>
            <a:ext cx="32918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$26B/yr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395728"/>
            <a:ext cx="310896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Estimated annual US cost of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preventable hospital readmissions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931920" y="1463040"/>
            <a:ext cx="329184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3931920" y="1572768"/>
            <a:ext cx="329184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HRRP</a:t>
            </a:r>
            <a:endParaRPr lang="en-US" sz="2600" dirty="0"/>
          </a:p>
        </p:txBody>
      </p:sp>
      <p:sp>
        <p:nvSpPr>
          <p:cNvPr id="10" name="Text 7"/>
          <p:cNvSpPr/>
          <p:nvPr/>
        </p:nvSpPr>
        <p:spPr>
          <a:xfrm>
            <a:off x="4023360" y="2395728"/>
            <a:ext cx="310896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Medicare penalizes hospitals for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excess 30-day readmissions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406640" y="1463040"/>
            <a:ext cx="4297680" cy="1554480"/>
          </a:xfrm>
          <a:prstGeom prst="roundRect">
            <a:avLst>
              <a:gd name="adj" fmla="val 4706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06640" y="1572768"/>
            <a:ext cx="4297680" cy="8549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HF • COPD • Pneumonia</a:t>
            </a:r>
            <a:endParaRPr lang="en-US" sz="2600" dirty="0"/>
          </a:p>
        </p:txBody>
      </p:sp>
      <p:sp>
        <p:nvSpPr>
          <p:cNvPr id="13" name="Text 10"/>
          <p:cNvSpPr/>
          <p:nvPr/>
        </p:nvSpPr>
        <p:spPr>
          <a:xfrm>
            <a:off x="7498080" y="2395728"/>
            <a:ext cx="4114800" cy="59070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Conditions most heavily targeted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readmission penalty programs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457200" y="3337560"/>
            <a:ext cx="11247120" cy="2788920"/>
          </a:xfrm>
          <a:prstGeom prst="roundRect">
            <a:avLst>
              <a:gd name="adj" fmla="val 2623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77240" y="3566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Goal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77240" y="397764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 which patients are at risk of readmission within 30 days of discharge, using structured EHR data — </a:t>
            </a:r>
            <a:pPr indent="0" marL="0">
              <a:lnSpc>
                <a:spcPct val="130000"/>
              </a:lnSpc>
              <a:buNone/>
            </a:pPr>
            <a:r>
              <a:rPr lang="en-US" sz="16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translate that risk score into a concrete, tiered clinical intervention</a:t>
            </a:r>
            <a:pPr indent="0" marL="0">
              <a:lnSpc>
                <a:spcPct val="130000"/>
              </a:lnSpc>
              <a:buNone/>
            </a:pPr>
            <a:r>
              <a:rPr lang="en-US" sz="16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not just a number.</a:t>
            </a:r>
            <a:endParaRPr lang="en-US" sz="1650" dirty="0"/>
          </a:p>
        </p:txBody>
      </p:sp>
      <p:sp>
        <p:nvSpPr>
          <p:cNvPr id="17" name="Text 14"/>
          <p:cNvSpPr/>
          <p:nvPr/>
        </p:nvSpPr>
        <p:spPr>
          <a:xfrm>
            <a:off x="822960" y="5074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a leak-free, honestly-evaluated predictive model</a:t>
            </a:r>
            <a:endParaRPr lang="en-US" sz="1350" dirty="0"/>
          </a:p>
        </p:txBody>
      </p:sp>
      <p:sp>
        <p:nvSpPr>
          <p:cNvPr id="18" name="Text 15"/>
          <p:cNvSpPr/>
          <p:nvPr/>
        </p:nvSpPr>
        <p:spPr>
          <a:xfrm>
            <a:off x="6217920" y="50749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 predictions with SHAP — not a black box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822960" y="5532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 and mitigate demographic performance gaps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6217920" y="5532120"/>
            <a:ext cx="5212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buNone/>
            </a:pPr>
            <a:r>
              <a:rPr lang="en-US" sz="13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 a real intervention &amp; deployment pathway</a:t>
            </a:r>
            <a:endParaRPr lang="en-US" sz="135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databas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Dataset Overview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91440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UCI Diabetes 130-US Hospitals Dataset (1999–2008)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457200" y="1618488"/>
            <a:ext cx="26974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101,766</a:t>
            </a:r>
            <a:endParaRPr lang="en-US" sz="2600" dirty="0"/>
          </a:p>
        </p:txBody>
      </p:sp>
      <p:sp>
        <p:nvSpPr>
          <p:cNvPr id="8" name="Text 5"/>
          <p:cNvSpPr/>
          <p:nvPr/>
        </p:nvSpPr>
        <p:spPr>
          <a:xfrm>
            <a:off x="548640" y="2359152"/>
            <a:ext cx="2514600" cy="538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inpatient encounters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291840" y="15087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291840" y="1618488"/>
            <a:ext cx="26974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71,518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3383280" y="2359152"/>
            <a:ext cx="2514600" cy="538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Unique patients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126480" y="1508760"/>
            <a:ext cx="269748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126480" y="1618488"/>
            <a:ext cx="269748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23%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6217920" y="2359152"/>
            <a:ext cx="2514600" cy="538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with multiple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encounters (leakage risk)</a:t>
            </a:r>
            <a:endParaRPr lang="en-US" sz="1150" dirty="0"/>
          </a:p>
        </p:txBody>
      </p:sp>
      <p:sp>
        <p:nvSpPr>
          <p:cNvPr id="15" name="Shape 12"/>
          <p:cNvSpPr/>
          <p:nvPr/>
        </p:nvSpPr>
        <p:spPr>
          <a:xfrm>
            <a:off x="8961120" y="1508760"/>
            <a:ext cx="2743200" cy="1417320"/>
          </a:xfrm>
          <a:prstGeom prst="roundRect">
            <a:avLst>
              <a:gd name="adj" fmla="val 516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8961120" y="1618488"/>
            <a:ext cx="2743200" cy="7795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7.96 : 1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052560" y="2359152"/>
            <a:ext cx="2560320" cy="53858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ratio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(not-readmitted : readmitted)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457200" y="32461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patient overlap matters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457200" y="3611880"/>
            <a:ext cx="5486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16,773 patients appear more than once in the data. A naive random split can place the same patient's encounters in both training and test sets — letting the model partially memorize patient identity instead of learning genuine risk patterns.</a:t>
            </a:r>
            <a:endParaRPr lang="en-US" sz="1350" dirty="0"/>
          </a:p>
        </p:txBody>
      </p:sp>
      <p:sp>
        <p:nvSpPr>
          <p:cNvPr id="20" name="Shape 17"/>
          <p:cNvSpPr/>
          <p:nvPr/>
        </p:nvSpPr>
        <p:spPr>
          <a:xfrm>
            <a:off x="6263640" y="3246120"/>
            <a:ext cx="5440680" cy="2331720"/>
          </a:xfrm>
          <a:prstGeom prst="roundRect">
            <a:avLst>
              <a:gd name="adj" fmla="val 3137"/>
            </a:avLst>
          </a:prstGeom>
          <a:solidFill>
            <a:srgbClr val="E9F5F3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537960" y="34290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fix: patient-grouped splitting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6537960" y="3840480"/>
            <a:ext cx="493776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70 / 15 / 15 train–validation–test split, grouped by patient_nbr — verified with zero patient overlap across all three splits.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457200" y="589788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target: 11,357 readmitted vs. 90,409 not readmitted (pre-filtering)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25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filt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&amp; Preprocessing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457200" y="141732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Missing data — handled by type, not blindly imputed</a:t>
            </a:r>
            <a:endParaRPr lang="en-US" sz="14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828800"/>
          <a:ext cx="5486400" cy="2286000"/>
        </p:xfrm>
        <a:graphic>
          <a:graphicData uri="http://schemas.openxmlformats.org/drawingml/2006/table">
            <a:tbl>
              <a:tblPr/>
              <a:tblGrid>
                <a:gridCol w="1920240"/>
                <a:gridCol w="1188720"/>
                <a:gridCol w="23774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Feature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Missing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Treatment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weight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96.9%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Dropped → kept as binary 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max_glu_serum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94.7%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Dropped → kept as binary 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A1Cresult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83.3%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Dropped → kept as binary flag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medical_specialty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49.1%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“Unknown” 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payer_code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39.6%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Explicit “Unknown” category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63640" y="141732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Removing a hidden artifact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6263640" y="18288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BEAEA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7960" y="2011680"/>
            <a:ext cx="4892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 codes 11, 19, 20, 21 denote patient death. A deceased patient cannot be readmitted — keeping these rows creates a spurious “never-readmitted” signal that distorts both the model and later fairness comparisons.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537960" y="3246120"/>
            <a:ext cx="4892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Removed 1,652 of 101,766 encounters (1.62%)</a:t>
            </a:r>
            <a:endParaRPr lang="en-US" sz="1250" dirty="0"/>
          </a:p>
        </p:txBody>
      </p:sp>
      <p:sp>
        <p:nvSpPr>
          <p:cNvPr id="11" name="Text 7"/>
          <p:cNvSpPr/>
          <p:nvPr/>
        </p:nvSpPr>
        <p:spPr>
          <a:xfrm>
            <a:off x="457200" y="434340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engineering &amp; split</a:t>
            </a:r>
            <a:endParaRPr lang="en-US" sz="1450" dirty="0"/>
          </a:p>
        </p:txBody>
      </p:sp>
      <p:sp>
        <p:nvSpPr>
          <p:cNvPr id="12" name="Shape 8"/>
          <p:cNvSpPr/>
          <p:nvPr/>
        </p:nvSpPr>
        <p:spPr>
          <a:xfrm>
            <a:off x="457200" y="47548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594360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num_med_changes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594360" y="5120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Collapses ~20 near-constant drug columns into one meaningful signal</a:t>
            </a:r>
            <a:endParaRPr lang="en-US" sz="1080" dirty="0"/>
          </a:p>
        </p:txBody>
      </p:sp>
      <p:sp>
        <p:nvSpPr>
          <p:cNvPr id="15" name="Shape 11"/>
          <p:cNvSpPr/>
          <p:nvPr/>
        </p:nvSpPr>
        <p:spPr>
          <a:xfrm>
            <a:off x="4233672" y="47548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4370832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total_visits_prior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4370832" y="5120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prior outpatient, emergency, and inpatient visits</a:t>
            </a:r>
            <a:endParaRPr lang="en-US" sz="1080" dirty="0"/>
          </a:p>
        </p:txBody>
      </p:sp>
      <p:sp>
        <p:nvSpPr>
          <p:cNvPr id="18" name="Shape 14"/>
          <p:cNvSpPr/>
          <p:nvPr/>
        </p:nvSpPr>
        <p:spPr>
          <a:xfrm>
            <a:off x="8010144" y="4754880"/>
            <a:ext cx="3611880" cy="1051560"/>
          </a:xfrm>
          <a:prstGeom prst="roundRect">
            <a:avLst>
              <a:gd name="adj" fmla="val 6087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147304" y="484632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Patient-grouped 70/15/15 split</a:t>
            </a:r>
            <a:endParaRPr lang="en-US" sz="1250" dirty="0"/>
          </a:p>
        </p:txBody>
      </p:sp>
      <p:sp>
        <p:nvSpPr>
          <p:cNvPr id="20" name="Text 16"/>
          <p:cNvSpPr/>
          <p:nvPr/>
        </p:nvSpPr>
        <p:spPr>
          <a:xfrm>
            <a:off x="8147304" y="5120640"/>
            <a:ext cx="3383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 patient overlap across train, validation, and test</a:t>
            </a:r>
            <a:endParaRPr lang="en-US" sz="108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chart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Exploratory Analysis: A Hard, Imbalanced Problem</a:t>
            </a:r>
            <a:endParaRPr lang="en-US" sz="2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463040"/>
          <a:ext cx="54864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6263640" y="1463040"/>
            <a:ext cx="5440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predictive signals found in EDA</a:t>
            </a:r>
            <a:endParaRPr lang="en-US" sz="1450" dirty="0"/>
          </a:p>
        </p:txBody>
      </p:sp>
      <p:sp>
        <p:nvSpPr>
          <p:cNvPr id="7" name="Shape 3"/>
          <p:cNvSpPr/>
          <p:nvPr/>
        </p:nvSpPr>
        <p:spPr>
          <a:xfrm>
            <a:off x="6263640" y="196596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6446520" y="196596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inpatient visits (number_inpatient) show the clearest separation between classes</a:t>
            </a:r>
            <a:endParaRPr lang="en-US" sz="1180" dirty="0"/>
          </a:p>
        </p:txBody>
      </p:sp>
      <p:sp>
        <p:nvSpPr>
          <p:cNvPr id="9" name="Shape 5"/>
          <p:cNvSpPr/>
          <p:nvPr/>
        </p:nvSpPr>
        <p:spPr>
          <a:xfrm>
            <a:off x="6263640" y="274320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6446520" y="274320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time_in_hospital correlates with lower same-admission risk of quick return</a:t>
            </a:r>
            <a:endParaRPr lang="en-US" sz="1180" dirty="0"/>
          </a:p>
        </p:txBody>
      </p:sp>
      <p:sp>
        <p:nvSpPr>
          <p:cNvPr id="11" name="Shape 7"/>
          <p:cNvSpPr/>
          <p:nvPr/>
        </p:nvSpPr>
        <p:spPr>
          <a:xfrm>
            <a:off x="6263640" y="352044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46520" y="352044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Feature correlation is modest overall — no single feature dominates linearly</a:t>
            </a:r>
            <a:endParaRPr lang="en-US" sz="1180" dirty="0"/>
          </a:p>
        </p:txBody>
      </p:sp>
      <p:sp>
        <p:nvSpPr>
          <p:cNvPr id="13" name="Shape 9"/>
          <p:cNvSpPr/>
          <p:nvPr/>
        </p:nvSpPr>
        <p:spPr>
          <a:xfrm>
            <a:off x="6263640" y="4297680"/>
            <a:ext cx="544068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446520" y="4297680"/>
            <a:ext cx="5074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Confirms need for a non-trivial model, not simple rule-based scoring</a:t>
            </a:r>
            <a:endParaRPr lang="en-US" sz="1180" dirty="0"/>
          </a:p>
        </p:txBody>
      </p:sp>
      <p:sp>
        <p:nvSpPr>
          <p:cNvPr id="15" name="Text 11"/>
          <p:cNvSpPr/>
          <p:nvPr/>
        </p:nvSpPr>
        <p:spPr>
          <a:xfrm>
            <a:off x="457200" y="52578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 ratio: 7.83 : 1 after excluding expired-patient encounters</a:t>
            </a:r>
            <a:endParaRPr lang="en-US" sz="1100" dirty="0"/>
          </a:p>
        </p:txBody>
      </p:sp>
      <p:sp>
        <p:nvSpPr>
          <p:cNvPr id="16" name="Text 12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brain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Modeling Approach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48640" y="157276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20574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baseline (mandatory)</a:t>
            </a:r>
            <a:endParaRPr lang="en-US" sz="1080" dirty="0"/>
          </a:p>
        </p:txBody>
      </p:sp>
      <p:sp>
        <p:nvSpPr>
          <p:cNvPr id="8" name="Shape 5"/>
          <p:cNvSpPr/>
          <p:nvPr/>
        </p:nvSpPr>
        <p:spPr>
          <a:xfrm>
            <a:off x="3273552" y="146304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3364992" y="157276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Random Forest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3364992" y="20574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Bagged ensemble</a:t>
            </a:r>
            <a:endParaRPr lang="en-US" sz="1080" dirty="0"/>
          </a:p>
        </p:txBody>
      </p:sp>
      <p:sp>
        <p:nvSpPr>
          <p:cNvPr id="11" name="Shape 8"/>
          <p:cNvSpPr/>
          <p:nvPr/>
        </p:nvSpPr>
        <p:spPr>
          <a:xfrm>
            <a:off x="6089904" y="146304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181344" y="157276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 Tree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6181344" y="20574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Interpretable tree baseline</a:t>
            </a:r>
            <a:endParaRPr lang="en-US" sz="1080" dirty="0"/>
          </a:p>
        </p:txBody>
      </p:sp>
      <p:sp>
        <p:nvSpPr>
          <p:cNvPr id="14" name="Shape 11"/>
          <p:cNvSpPr/>
          <p:nvPr/>
        </p:nvSpPr>
        <p:spPr>
          <a:xfrm>
            <a:off x="8906256" y="1463040"/>
            <a:ext cx="2633472" cy="1143000"/>
          </a:xfrm>
          <a:prstGeom prst="roundRect">
            <a:avLst>
              <a:gd name="adj" fmla="val 6400"/>
            </a:avLst>
          </a:prstGeom>
          <a:solidFill>
            <a:srgbClr val="E9F5F3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997696" y="1572768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8997696" y="2057400"/>
            <a:ext cx="24505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Gradient-boosted ensemble</a:t>
            </a:r>
            <a:endParaRPr lang="en-US" sz="1080" dirty="0"/>
          </a:p>
        </p:txBody>
      </p:sp>
      <p:sp>
        <p:nvSpPr>
          <p:cNvPr id="17" name="Text 14"/>
          <p:cNvSpPr/>
          <p:nvPr/>
        </p:nvSpPr>
        <p:spPr>
          <a:xfrm>
            <a:off x="457200" y="2697480"/>
            <a:ext cx="11247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Regression, Random Forest, and XGBoost tuned via GridSearchCV • Stratified 5-fold cross-validation</a:t>
            </a:r>
            <a:endParaRPr lang="en-US" sz="1150" dirty="0"/>
          </a:p>
        </p:txBody>
      </p:sp>
      <p:sp>
        <p:nvSpPr>
          <p:cNvPr id="18" name="Shape 15"/>
          <p:cNvSpPr/>
          <p:nvPr/>
        </p:nvSpPr>
        <p:spPr>
          <a:xfrm>
            <a:off x="457200" y="3246120"/>
            <a:ext cx="11247120" cy="2880360"/>
          </a:xfrm>
          <a:prstGeom prst="roundRect">
            <a:avLst>
              <a:gd name="adj" fmla="val 2540"/>
            </a:avLst>
          </a:prstGeom>
          <a:solidFill>
            <a:srgbClr val="FFF7E8"/>
          </a:solidFill>
          <a:ln w="12700">
            <a:solidFill>
              <a:srgbClr val="C77D0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77240" y="3456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leakage bug we found — and fixed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77240" y="3886200"/>
            <a:ext cx="10607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was originally applied once, globally, before cross-validation. Synthetic minority samples could then leak across fold boundaries — Random Forest and Decision Tree showed 90%+ recall during cross-validation, but under 5% recall on the untouched validation set.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777240" y="4892040"/>
            <a:ext cx="10607040" cy="0"/>
          </a:xfrm>
          <a:prstGeom prst="line">
            <a:avLst/>
          </a:prstGeom>
          <a:noFill/>
          <a:ln w="12700">
            <a:solidFill>
              <a:srgbClr val="E8D9B0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777240" y="5029200"/>
            <a:ext cx="10607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fix:  </a:t>
            </a:r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SMOTE moved inside an imblearn Pipeline, refit fresh within every CV fold and every GridSearchCV inner fold — no synthetic sample ever crosses a fold boundary.</a:t>
            </a:r>
            <a:endParaRPr lang="en-US" sz="13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tabl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Results — Validation Set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91440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After fixing the SMOTE cross-validation leakage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7498080" cy="2377440"/>
        </p:xfrm>
        <a:graphic>
          <a:graphicData uri="http://schemas.openxmlformats.org/drawingml/2006/table">
            <a:tbl>
              <a:tblPr/>
              <a:tblGrid>
                <a:gridCol w="2377440"/>
                <a:gridCol w="1280160"/>
                <a:gridCol w="1280160"/>
                <a:gridCol w="1188720"/>
                <a:gridCol w="137160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Accuracy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0.822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0.226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0.850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0.270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0.188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0.636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0.887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0.484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0.017*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402336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at default 0.5 threshold — misleading in isolation, see next slide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8229600" y="1554480"/>
            <a:ext cx="3502152" cy="2743200"/>
          </a:xfrm>
          <a:prstGeom prst="roundRect">
            <a:avLst>
              <a:gd name="adj" fmla="val 2667"/>
            </a:avLst>
          </a:prstGeom>
          <a:solidFill>
            <a:srgbClr val="E9F5F3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458200" y="17373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ranking model</a:t>
            </a:r>
            <a:endParaRPr lang="en-US" sz="1300" dirty="0"/>
          </a:p>
        </p:txBody>
      </p:sp>
      <p:sp>
        <p:nvSpPr>
          <p:cNvPr id="10" name="Text 6"/>
          <p:cNvSpPr/>
          <p:nvPr/>
        </p:nvSpPr>
        <p:spPr>
          <a:xfrm>
            <a:off x="8458200" y="2103120"/>
            <a:ext cx="3063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</a:t>
            </a:r>
            <a:endParaRPr lang="en-US" sz="3000" dirty="0"/>
          </a:p>
        </p:txBody>
      </p:sp>
      <p:sp>
        <p:nvSpPr>
          <p:cNvPr id="11" name="Text 7"/>
          <p:cNvSpPr/>
          <p:nvPr/>
        </p:nvSpPr>
        <p:spPr>
          <a:xfrm>
            <a:off x="8458200" y="269748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0.679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8458200" y="3154680"/>
            <a:ext cx="30632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Highest area under the ROC curve of all four models — but its default-threshold recall is misleadingly low, addressed next.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457200" y="4572000"/>
            <a:ext cx="11247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5-fold cross-validated recall (mean): LR 0.578 • RF 0.211 • DT 0.175 • XGBoost 0.009 — all consistent with validation, confirming the leakage fix held</a:t>
            </a:r>
            <a:endParaRPr lang="en-US" sz="1150" dirty="0"/>
          </a:p>
        </p:txBody>
      </p:sp>
      <p:sp>
        <p:nvSpPr>
          <p:cNvPr id="14" name="Text 1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slid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Selection: Recall Over Precision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463040"/>
            <a:ext cx="11247120" cy="1417320"/>
          </a:xfrm>
          <a:prstGeom prst="roundRect">
            <a:avLst>
              <a:gd name="adj" fmla="val 5161"/>
            </a:avLst>
          </a:prstGeom>
          <a:solidFill>
            <a:srgbClr val="FBEAEA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77240" y="1645920"/>
            <a:ext cx="1060704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Clinical cost asymmetry:  </a:t>
            </a:r>
            <a:pPr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missed high-risk patient (false negative) can mean a preventable readmission. An unnecessary follow-up call (false positive) costs only staff time. This project deliberately optimizes for </a:t>
            </a:r>
            <a:pPr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over precision.</a:t>
            </a:r>
            <a:endParaRPr lang="en-US" sz="145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54680"/>
          <a:ext cx="7498080" cy="2286000"/>
        </p:xfrm>
        <a:graphic>
          <a:graphicData uri="http://schemas.openxmlformats.org/drawingml/2006/table">
            <a:tbl>
              <a:tblPr/>
              <a:tblGrid>
                <a:gridCol w="2468880"/>
                <a:gridCol w="1280160"/>
                <a:gridCol w="1188720"/>
                <a:gridCol w="1280160"/>
                <a:gridCol w="1280160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Threshold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ROC-AUC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A54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XGBoost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b="1" dirty="0">
                          <a:solidFill>
                            <a:srgbClr val="0B5A54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0.679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9F5F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Logistic Regression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0.49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0.614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0.172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0.668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Random Forest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0.37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0.626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0.649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Decision Tree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0.632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0.160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50" dirty="0">
                          <a:solidFill>
                            <a:srgbClr val="3A455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0.636</a:t>
                      </a:r>
                      <a:endParaRPr lang="en-US" sz="12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5486400"/>
            <a:ext cx="7498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Compared at a matched recall of ~60–64%, so the comparison is fair across models</a:t>
            </a:r>
            <a:endParaRPr lang="en-US" sz="1050" dirty="0"/>
          </a:p>
        </p:txBody>
      </p:sp>
      <p:sp>
        <p:nvSpPr>
          <p:cNvPr id="9" name="Shape 5"/>
          <p:cNvSpPr/>
          <p:nvPr/>
        </p:nvSpPr>
        <p:spPr>
          <a:xfrm>
            <a:off x="8229600" y="3154680"/>
            <a:ext cx="3502152" cy="2651760"/>
          </a:xfrm>
          <a:prstGeom prst="roundRect">
            <a:avLst>
              <a:gd name="adj" fmla="val 2759"/>
            </a:avLst>
          </a:prstGeom>
          <a:solidFill>
            <a:srgbClr val="E9F5F3"/>
          </a:solidFill>
          <a:ln w="19050">
            <a:solidFill>
              <a:srgbClr val="0F766E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8458200" y="3337560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deployed model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8458200" y="365760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@ 0.12</a:t>
            </a:r>
            <a:endParaRPr lang="en-US" sz="2200" dirty="0"/>
          </a:p>
        </p:txBody>
      </p:sp>
      <p:sp>
        <p:nvSpPr>
          <p:cNvPr id="12" name="Text 8"/>
          <p:cNvSpPr/>
          <p:nvPr/>
        </p:nvSpPr>
        <p:spPr>
          <a:xfrm>
            <a:off x="8458200" y="4160520"/>
            <a:ext cx="3063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3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recall (63.7%) and best ROC-AUC among all models at this operating point. Logistic Regression's precision edge (+0.07pp) is within noise — not a deciding factor.</a:t>
            </a:r>
            <a:endParaRPr lang="en-US" sz="113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lightbulb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Interpretability: What Drives the Model?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91440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(SHapley Additive exPlanations) on the final XGBoost model</a:t>
            </a:r>
            <a:endParaRPr lang="en-US" sz="1300" dirty="0"/>
          </a:p>
        </p:txBody>
      </p:sp>
      <p:pic>
        <p:nvPicPr>
          <p:cNvPr id="6" name="Image 1" descr="deck_assets/shap_summary_pl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5394960" cy="5029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26480" y="1508760"/>
            <a:ext cx="5577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predictors, ranked by mean |SHAP value|</a:t>
            </a:r>
            <a:endParaRPr lang="en-US" sz="1400" dirty="0"/>
          </a:p>
        </p:txBody>
      </p:sp>
      <p:sp>
        <p:nvSpPr>
          <p:cNvPr id="8" name="Shape 4"/>
          <p:cNvSpPr/>
          <p:nvPr/>
        </p:nvSpPr>
        <p:spPr>
          <a:xfrm>
            <a:off x="6126480" y="196596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309360" y="204825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number_inpatient</a:t>
            </a:r>
            <a:endParaRPr lang="en-US" sz="1250" dirty="0"/>
          </a:p>
        </p:txBody>
      </p:sp>
      <p:sp>
        <p:nvSpPr>
          <p:cNvPr id="10" name="Text 6"/>
          <p:cNvSpPr/>
          <p:nvPr/>
        </p:nvSpPr>
        <p:spPr>
          <a:xfrm>
            <a:off x="6309360" y="231343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Prior inpatient visits — strongest signal, matches clinical literature</a:t>
            </a:r>
            <a:endParaRPr lang="en-US" sz="1080" dirty="0"/>
          </a:p>
        </p:txBody>
      </p:sp>
      <p:sp>
        <p:nvSpPr>
          <p:cNvPr id="11" name="Shape 7"/>
          <p:cNvSpPr/>
          <p:nvPr/>
        </p:nvSpPr>
        <p:spPr>
          <a:xfrm>
            <a:off x="6126480" y="274320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309360" y="282549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time_in_hospital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309360" y="309067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stay length</a:t>
            </a:r>
            <a:endParaRPr lang="en-US" sz="1080" dirty="0"/>
          </a:p>
        </p:txBody>
      </p:sp>
      <p:sp>
        <p:nvSpPr>
          <p:cNvPr id="14" name="Shape 10"/>
          <p:cNvSpPr/>
          <p:nvPr/>
        </p:nvSpPr>
        <p:spPr>
          <a:xfrm>
            <a:off x="6126480" y="352044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309360" y="360273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age_ordinal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6309360" y="386791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age band</a:t>
            </a:r>
            <a:endParaRPr lang="en-US" sz="1080" dirty="0"/>
          </a:p>
        </p:txBody>
      </p:sp>
      <p:sp>
        <p:nvSpPr>
          <p:cNvPr id="17" name="Shape 13"/>
          <p:cNvSpPr/>
          <p:nvPr/>
        </p:nvSpPr>
        <p:spPr>
          <a:xfrm>
            <a:off x="6126480" y="429768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309360" y="437997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num_procedures</a:t>
            </a:r>
            <a:endParaRPr lang="en-US" sz="1250" dirty="0"/>
          </a:p>
        </p:txBody>
      </p:sp>
      <p:sp>
        <p:nvSpPr>
          <p:cNvPr id="19" name="Text 15"/>
          <p:cNvSpPr/>
          <p:nvPr/>
        </p:nvSpPr>
        <p:spPr>
          <a:xfrm>
            <a:off x="6309360" y="464515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Procedures performed this stay</a:t>
            </a:r>
            <a:endParaRPr lang="en-US" sz="1080" dirty="0"/>
          </a:p>
        </p:txBody>
      </p:sp>
      <p:sp>
        <p:nvSpPr>
          <p:cNvPr id="20" name="Shape 16"/>
          <p:cNvSpPr/>
          <p:nvPr/>
        </p:nvSpPr>
        <p:spPr>
          <a:xfrm>
            <a:off x="6126480" y="5074920"/>
            <a:ext cx="5577840" cy="658368"/>
          </a:xfrm>
          <a:prstGeom prst="round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309360" y="5157216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discharge_disposition_id_1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6309360" y="5422392"/>
            <a:ext cx="5212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Discharged directly home</a:t>
            </a:r>
            <a:endParaRPr lang="en-US" sz="1080" dirty="0"/>
          </a:p>
        </p:txBody>
      </p:sp>
      <p:sp>
        <p:nvSpPr>
          <p:cNvPr id="23" name="Shape 19"/>
          <p:cNvSpPr/>
          <p:nvPr/>
        </p:nvSpPr>
        <p:spPr>
          <a:xfrm>
            <a:off x="6126480" y="5897880"/>
            <a:ext cx="5577840" cy="685800"/>
          </a:xfrm>
          <a:prstGeom prst="roundRect">
            <a:avLst>
              <a:gd name="adj" fmla="val 8000"/>
            </a:avLst>
          </a:prstGeom>
          <a:solidFill>
            <a:srgbClr val="FFF7E8"/>
          </a:solidFill>
          <a:ln w="12700">
            <a:solidFill>
              <a:srgbClr val="C77D0A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6263640" y="5943600"/>
            <a:ext cx="5303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00" i="1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earlier version surfaced discharge_disposition_id_11 (“Expired”) in the top 10 — the artifact removed in preprocessing (see slide 4).</a:t>
            </a:r>
            <a:endParaRPr lang="en-US" sz="1000" dirty="0"/>
          </a:p>
        </p:txBody>
      </p:sp>
      <p:sp>
        <p:nvSpPr>
          <p:cNvPr id="25" name="Text 21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26" name="Text 22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userm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Case Study: A Patient the Model Missed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91440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SHAP waterfall — false negative example</a:t>
            </a:r>
            <a:endParaRPr lang="en-US" sz="1300" dirty="0"/>
          </a:p>
        </p:txBody>
      </p:sp>
      <p:pic>
        <p:nvPicPr>
          <p:cNvPr id="6" name="Image 1" descr="deck_assets/shap_waterfall_patient_B_false_negativ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6766560" cy="427939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52360" y="1508760"/>
            <a:ext cx="4251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this patient slipped through</a:t>
            </a:r>
            <a:endParaRPr lang="en-US" sz="1500" dirty="0"/>
          </a:p>
        </p:txBody>
      </p:sp>
      <p:sp>
        <p:nvSpPr>
          <p:cNvPr id="8" name="Shape 4"/>
          <p:cNvSpPr/>
          <p:nvPr/>
        </p:nvSpPr>
        <p:spPr>
          <a:xfrm>
            <a:off x="7452360" y="1920240"/>
            <a:ext cx="4251960" cy="3749040"/>
          </a:xfrm>
          <a:prstGeom prst="roundRect">
            <a:avLst>
              <a:gd name="adj" fmla="val 1951"/>
            </a:avLst>
          </a:prstGeom>
          <a:solidFill>
            <a:srgbClr val="FBEAEA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7680960" y="210312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3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patient was actually readmitted, but was scored low-risk. The model's strongest feature — prior inpatient visits — was below average for them, and an unusually long current stay reinforced a false impression of stability.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7680960" y="3794760"/>
            <a:ext cx="3794760" cy="0"/>
          </a:xfrm>
          <a:prstGeom prst="line">
            <a:avLst/>
          </a:prstGeom>
          <a:noFill/>
          <a:ln w="12700">
            <a:solidFill>
              <a:srgbClr val="E9BFBF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7680960" y="3977640"/>
            <a:ext cx="37947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 </a:t>
            </a:r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administrative utilization history cannot capture clinical deterioration or social factors emerging after discharge — a genuine ceiling on what these features can predict.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balanc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Analysis: Recall Across Subgroups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91440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Test-set recall at the deployed 0.12 threshold (overall = 0.641)</a:t>
            </a:r>
            <a:endParaRPr lang="en-US" sz="1300" dirty="0"/>
          </a:p>
        </p:txBody>
      </p:sp>
      <p:pic>
        <p:nvPicPr>
          <p:cNvPr id="6" name="Image 1" descr="deck_assets/fairness_recall_by_ra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08760"/>
            <a:ext cx="5532120" cy="2880360"/>
          </a:xfrm>
          <a:prstGeom prst="rect">
            <a:avLst/>
          </a:prstGeom>
        </p:spPr>
      </p:pic>
      <p:pic>
        <p:nvPicPr>
          <p:cNvPr id="7" name="Image 2" descr="deck_assets/fairness_recall_by_ag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72200" y="1508760"/>
            <a:ext cx="5532120" cy="2880360"/>
          </a:xfrm>
          <a:prstGeom prst="rect">
            <a:avLst/>
          </a:prstGeom>
        </p:spPr>
      </p:pic>
      <p:sp>
        <p:nvSpPr>
          <p:cNvPr id="8" name="Shape 3"/>
          <p:cNvSpPr/>
          <p:nvPr/>
        </p:nvSpPr>
        <p:spPr>
          <a:xfrm>
            <a:off x="457200" y="4572000"/>
            <a:ext cx="11247120" cy="1691640"/>
          </a:xfrm>
          <a:prstGeom prst="roundRect">
            <a:avLst>
              <a:gd name="adj" fmla="val 4324"/>
            </a:avLst>
          </a:prstGeom>
          <a:solidFill>
            <a:srgbClr val="FFF7E8"/>
          </a:solidFill>
          <a:ln w="12700">
            <a:solidFill>
              <a:srgbClr val="C77D0A"/>
            </a:solidFill>
            <a:prstDash val="solid"/>
          </a:ln>
        </p:spPr>
      </p:sp>
      <p:sp>
        <p:nvSpPr>
          <p:cNvPr id="9" name="Text 4"/>
          <p:cNvSpPr/>
          <p:nvPr/>
        </p:nvSpPr>
        <p:spPr>
          <a:xfrm>
            <a:off x="777240" y="4754880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Real, credible gap found: age band [50–60)</a:t>
            </a:r>
            <a:endParaRPr lang="en-US" sz="1400" dirty="0"/>
          </a:p>
        </p:txBody>
      </p:sp>
      <p:sp>
        <p:nvSpPr>
          <p:cNvPr id="10" name="Text 5"/>
          <p:cNvSpPr/>
          <p:nvPr/>
        </p:nvSpPr>
        <p:spPr>
          <a:xfrm>
            <a:off x="777240" y="5102352"/>
            <a:ext cx="106070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8000"/>
              </a:lnSpc>
              <a:buNone/>
            </a:pPr>
            <a:r>
              <a:rPr lang="en-US" sz="123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a large, trustworthy sample (n=2,592), this group's recall is 0.530 vs. 0.641 overall — an 11-point real gap. The two largest race groups (African American, Caucasian; n&gt;2,700 each) sit at parity, ~0.65 recall each. Smaller subgroups (Asian, Hispanic, Unknown) trend lower, most likely reflecting underrepresentation rather than model bias.</a:t>
            </a:r>
            <a:endParaRPr lang="en-US" sz="1230" dirty="0"/>
          </a:p>
        </p:txBody>
      </p:sp>
      <p:sp>
        <p:nvSpPr>
          <p:cNvPr id="11" name="Text 6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12" name="Text 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wrench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Mitigation: Subgroup Threshold Calibration</a:t>
            </a:r>
            <a:endParaRPr lang="en-US" sz="2700" dirty="0"/>
          </a:p>
        </p:txBody>
      </p:sp>
      <p:pic>
        <p:nvPicPr>
          <p:cNvPr id="5" name="Image 1" descr="deck_assets/fairness_threshold_calibration_compariso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63040"/>
            <a:ext cx="7040880" cy="448056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726680" y="150876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Result for [50–60)</a:t>
            </a:r>
            <a:endParaRPr lang="en-US" sz="1500" dirty="0"/>
          </a:p>
        </p:txBody>
      </p:sp>
      <p:sp>
        <p:nvSpPr>
          <p:cNvPr id="7" name="Shape 3"/>
          <p:cNvSpPr/>
          <p:nvPr/>
        </p:nvSpPr>
        <p:spPr>
          <a:xfrm>
            <a:off x="7726680" y="1920240"/>
            <a:ext cx="3977640" cy="1188720"/>
          </a:xfrm>
          <a:prstGeom prst="roundRect">
            <a:avLst>
              <a:gd name="adj" fmla="val 6154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5400000">
              <a:srgbClr val="94A3B8">
                <a:alpha val="2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7726680" y="2029968"/>
            <a:ext cx="3977640" cy="6537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0.530 → 0.627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818120" y="2633472"/>
            <a:ext cx="3794760" cy="45171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Recall improvement after lowering the group's threshold from 0.12 to 0.10</a:t>
            </a:r>
            <a:endParaRPr lang="en-US" sz="1150" dirty="0"/>
          </a:p>
        </p:txBody>
      </p:sp>
      <p:sp>
        <p:nvSpPr>
          <p:cNvPr id="10" name="Text 6"/>
          <p:cNvSpPr/>
          <p:nvPr/>
        </p:nvSpPr>
        <p:spPr>
          <a:xfrm>
            <a:off x="7726680" y="3246120"/>
            <a:ext cx="3977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Cost: precision fell by ~1.6 percentage points (0.178 → 0.162)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7726680" y="3840480"/>
            <a:ext cx="3977640" cy="2103120"/>
          </a:xfrm>
          <a:prstGeom prst="roundRect">
            <a:avLst>
              <a:gd name="adj" fmla="val 3478"/>
            </a:avLst>
          </a:prstGeom>
          <a:solidFill>
            <a:srgbClr val="FBEAEA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7955280" y="4023360"/>
            <a:ext cx="352044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2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caveat: recalibrating one age band shifted others — [70–80) and [80–90) recall declined. Per-subgroup thresholds are not a free lunch and require clinical and governance sign-off before deployment, not a silent statistical fix.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shield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Ethics &amp; Governance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HIPAA &amp; GDPR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De-identification, role-based access control, and full audit logging for any patient data used by the model.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617220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HL7 FHIR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standard hospital EHR systems would use to feed structured patient data into the model in production.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 consent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 should be informed that an algorithmic risk assessment is part of their discharge planning.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 override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6446520" y="4434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is decision support, not an automated decision — a clinician can always override it using information the model cannot see.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layers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Risk Score to Clinical Action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91440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data-driven risk tiers, justified by observed 30-day readmission rate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11247120" cy="102412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6510">
            <a:solidFill>
              <a:srgbClr val="1E8E5A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66928" y="1636776"/>
            <a:ext cx="146304" cy="768096"/>
          </a:xfrm>
          <a:prstGeom prst="roundRect">
            <a:avLst>
              <a:gd name="adj" fmla="val 18750"/>
            </a:avLst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1618488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Risk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68680" y="201168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[0.00–0.12)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2926080" y="1618488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8,786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2926080" y="2075688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4251960" y="1618488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8E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6.9%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4251960" y="2130552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rate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5623560" y="1508760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discharge instructions, routine primary-care follow-up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457200" y="2679192"/>
            <a:ext cx="11247120" cy="102412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6510">
            <a:solidFill>
              <a:srgbClr val="C77D0A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6928" y="2807208"/>
            <a:ext cx="146304" cy="768096"/>
          </a:xfrm>
          <a:prstGeom prst="roundRect">
            <a:avLst>
              <a:gd name="adj" fmla="val 18750"/>
            </a:avLst>
          </a:prstGeom>
          <a:solidFill>
            <a:srgbClr val="C77D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68680" y="2788920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 Risk</a:t>
            </a:r>
            <a:endParaRPr lang="en-US" sz="1400" dirty="0"/>
          </a:p>
        </p:txBody>
      </p:sp>
      <p:sp>
        <p:nvSpPr>
          <p:cNvPr id="18" name="Text 15"/>
          <p:cNvSpPr/>
          <p:nvPr/>
        </p:nvSpPr>
        <p:spPr>
          <a:xfrm>
            <a:off x="868680" y="318211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[0.12–0.20)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2926080" y="2788920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4,367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2926080" y="3246120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4251960" y="2788920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14.0%</a:t>
            </a:r>
            <a:endParaRPr lang="en-US" sz="1700" dirty="0"/>
          </a:p>
        </p:txBody>
      </p:sp>
      <p:sp>
        <p:nvSpPr>
          <p:cNvPr id="22" name="Text 19"/>
          <p:cNvSpPr/>
          <p:nvPr/>
        </p:nvSpPr>
        <p:spPr>
          <a:xfrm>
            <a:off x="4251960" y="3300984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rate</a:t>
            </a:r>
            <a:endParaRPr lang="en-US" sz="850" dirty="0"/>
          </a:p>
        </p:txBody>
      </p:sp>
      <p:sp>
        <p:nvSpPr>
          <p:cNvPr id="23" name="Text 20"/>
          <p:cNvSpPr/>
          <p:nvPr/>
        </p:nvSpPr>
        <p:spPr>
          <a:xfrm>
            <a:off x="5623560" y="2679192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Follow-up call within 72 hrs + medication reconciliation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57200" y="3849624"/>
            <a:ext cx="11247120" cy="102412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6510">
            <a:solidFill>
              <a:srgbClr val="D9612B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66928" y="3977640"/>
            <a:ext cx="146304" cy="768096"/>
          </a:xfrm>
          <a:prstGeom prst="roundRect">
            <a:avLst>
              <a:gd name="adj" fmla="val 18750"/>
            </a:avLst>
          </a:prstGeom>
          <a:solidFill>
            <a:srgbClr val="D961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868680" y="3959352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96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400" dirty="0"/>
          </a:p>
        </p:txBody>
      </p:sp>
      <p:sp>
        <p:nvSpPr>
          <p:cNvPr id="27" name="Text 24"/>
          <p:cNvSpPr/>
          <p:nvPr/>
        </p:nvSpPr>
        <p:spPr>
          <a:xfrm>
            <a:off x="868680" y="435254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[0.20–0.35)</a:t>
            </a:r>
            <a:endParaRPr lang="en-US" sz="1050" dirty="0"/>
          </a:p>
        </p:txBody>
      </p:sp>
      <p:sp>
        <p:nvSpPr>
          <p:cNvPr id="28" name="Text 25"/>
          <p:cNvSpPr/>
          <p:nvPr/>
        </p:nvSpPr>
        <p:spPr>
          <a:xfrm>
            <a:off x="2926080" y="3959352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1,584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2926080" y="4416552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4251960" y="3959352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D961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22.9%</a:t>
            </a:r>
            <a:endParaRPr lang="en-US" sz="1700" dirty="0"/>
          </a:p>
        </p:txBody>
      </p:sp>
      <p:sp>
        <p:nvSpPr>
          <p:cNvPr id="31" name="Text 28"/>
          <p:cNvSpPr/>
          <p:nvPr/>
        </p:nvSpPr>
        <p:spPr>
          <a:xfrm>
            <a:off x="4251960" y="4471416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rate</a:t>
            </a:r>
            <a:endParaRPr lang="en-US" sz="850" dirty="0"/>
          </a:p>
        </p:txBody>
      </p:sp>
      <p:sp>
        <p:nvSpPr>
          <p:cNvPr id="32" name="Text 29"/>
          <p:cNvSpPr/>
          <p:nvPr/>
        </p:nvSpPr>
        <p:spPr>
          <a:xfrm>
            <a:off x="5623560" y="3849624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BOOST: teach-back, pre-discharge appointment, 48-hr call</a:t>
            </a:r>
            <a:endParaRPr lang="en-US" sz="1200" dirty="0"/>
          </a:p>
        </p:txBody>
      </p:sp>
      <p:sp>
        <p:nvSpPr>
          <p:cNvPr id="33" name="Shape 30"/>
          <p:cNvSpPr/>
          <p:nvPr/>
        </p:nvSpPr>
        <p:spPr>
          <a:xfrm>
            <a:off x="457200" y="5020056"/>
            <a:ext cx="11247120" cy="1024128"/>
          </a:xfrm>
          <a:prstGeom prst="roundRect">
            <a:avLst>
              <a:gd name="adj" fmla="val 6250"/>
            </a:avLst>
          </a:prstGeom>
          <a:solidFill>
            <a:srgbClr val="F8FAFC"/>
          </a:solidFill>
          <a:ln w="16510">
            <a:solidFill>
              <a:srgbClr val="C23B3B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566928" y="5148072"/>
            <a:ext cx="146304" cy="768096"/>
          </a:xfrm>
          <a:prstGeom prst="roundRect">
            <a:avLst>
              <a:gd name="adj" fmla="val 18750"/>
            </a:avLst>
          </a:prstGeom>
          <a:solidFill>
            <a:srgbClr val="C2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868680" y="5129784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Very High Risk</a:t>
            </a:r>
            <a:endParaRPr lang="en-US" sz="1400" dirty="0"/>
          </a:p>
        </p:txBody>
      </p:sp>
      <p:sp>
        <p:nvSpPr>
          <p:cNvPr id="36" name="Text 33"/>
          <p:cNvSpPr/>
          <p:nvPr/>
        </p:nvSpPr>
        <p:spPr>
          <a:xfrm>
            <a:off x="868680" y="5522976"/>
            <a:ext cx="1965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[0.35–1.00]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2926080" y="5129784"/>
            <a:ext cx="1280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2926080" y="55869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patients</a:t>
            </a:r>
            <a:endParaRPr lang="en-US" sz="900" dirty="0"/>
          </a:p>
        </p:txBody>
      </p:sp>
      <p:sp>
        <p:nvSpPr>
          <p:cNvPr id="39" name="Text 36"/>
          <p:cNvSpPr/>
          <p:nvPr/>
        </p:nvSpPr>
        <p:spPr>
          <a:xfrm>
            <a:off x="4251960" y="5129784"/>
            <a:ext cx="12344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41.5%</a:t>
            </a:r>
            <a:endParaRPr lang="en-US" sz="1700" dirty="0"/>
          </a:p>
        </p:txBody>
      </p:sp>
      <p:sp>
        <p:nvSpPr>
          <p:cNvPr id="40" name="Text 37"/>
          <p:cNvSpPr/>
          <p:nvPr/>
        </p:nvSpPr>
        <p:spPr>
          <a:xfrm>
            <a:off x="4251960" y="5641848"/>
            <a:ext cx="1234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observed rate</a:t>
            </a:r>
            <a:endParaRPr lang="en-US" sz="850" dirty="0"/>
          </a:p>
        </p:txBody>
      </p:sp>
      <p:sp>
        <p:nvSpPr>
          <p:cNvPr id="41" name="Text 38"/>
          <p:cNvSpPr/>
          <p:nvPr/>
        </p:nvSpPr>
        <p:spPr>
          <a:xfrm>
            <a:off x="5623560" y="5020056"/>
            <a:ext cx="594360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Care Transitions Intervention: coach, 72-hr home visit, 30-day calls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457200" y="626364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Grounded in Project BOOST (Society of Hospital Medicine) and the Care Transitions Intervention model</a:t>
            </a:r>
            <a:endParaRPr lang="en-US" sz="1050" dirty="0"/>
          </a:p>
        </p:txBody>
      </p:sp>
      <p:sp>
        <p:nvSpPr>
          <p:cNvPr id="43" name="Text 4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44" name="Text 4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server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Deployment Architecture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91440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closed feedback loop, not a one-time launch</a:t>
            </a:r>
            <a:endParaRPr lang="en-US" sz="1300" dirty="0"/>
          </a:p>
        </p:txBody>
      </p:sp>
      <p:pic>
        <p:nvPicPr>
          <p:cNvPr id="6" name="Image 1" descr="deck_assets/architecture_diagra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600200"/>
            <a:ext cx="11247120" cy="4334256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57200" y="60350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Ingestion (HL7 FHIR)  →  Preprocessing (serialized pipeline)  →  Model serving (FastAPI/Docker)  →  Clinician dashboard  →  Selective alerting  →  Drift &amp; fairness monitoring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desktop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2700" dirty="0"/>
          </a:p>
        </p:txBody>
      </p:sp>
      <p:sp>
        <p:nvSpPr>
          <p:cNvPr id="5" name="Text 2"/>
          <p:cNvSpPr/>
          <p:nvPr/>
        </p:nvSpPr>
        <p:spPr>
          <a:xfrm>
            <a:off x="1188720" y="914400"/>
            <a:ext cx="10545775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Hosted Streamlit application, publicly accessible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457200" y="1508760"/>
            <a:ext cx="6858000" cy="4572000"/>
          </a:xfrm>
          <a:prstGeom prst="roundRect">
            <a:avLst>
              <a:gd name="adj" fmla="val 1600"/>
            </a:avLst>
          </a:prstGeom>
          <a:solidFill>
            <a:srgbClr val="0E1621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457200" y="1508760"/>
            <a:ext cx="6858000" cy="365760"/>
          </a:xfrm>
          <a:prstGeom prst="roundRect">
            <a:avLst>
              <a:gd name="adj" fmla="val 20000"/>
            </a:avLst>
          </a:prstGeom>
          <a:solidFill>
            <a:srgbClr val="1B273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40080" y="1636776"/>
            <a:ext cx="109728" cy="109728"/>
          </a:xfrm>
          <a:prstGeom prst="ellipse">
            <a:avLst/>
          </a:prstGeom>
          <a:solidFill>
            <a:srgbClr val="C23B3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96112" y="1636776"/>
            <a:ext cx="109728" cy="109728"/>
          </a:xfrm>
          <a:prstGeom prst="ellipse">
            <a:avLst/>
          </a:prstGeom>
          <a:solidFill>
            <a:srgbClr val="C77D0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152144" y="1636776"/>
            <a:ext cx="109728" cy="109728"/>
          </a:xfrm>
          <a:prstGeom prst="ellipse">
            <a:avLst/>
          </a:prstGeom>
          <a:solidFill>
            <a:srgbClr val="1E8E5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2103120"/>
            <a:ext cx="6126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30-Day Hospital Readmission Risk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822960" y="27432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Predicted 30-day readmission probability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22960" y="297180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25.4%</a:t>
            </a:r>
            <a:endParaRPr lang="en-US" sz="3400" dirty="0"/>
          </a:p>
        </p:txBody>
      </p:sp>
      <p:sp>
        <p:nvSpPr>
          <p:cNvPr id="14" name="Shape 11"/>
          <p:cNvSpPr/>
          <p:nvPr/>
        </p:nvSpPr>
        <p:spPr>
          <a:xfrm>
            <a:off x="822960" y="3794760"/>
            <a:ext cx="1828800" cy="502920"/>
          </a:xfrm>
          <a:prstGeom prst="roundRect">
            <a:avLst>
              <a:gd name="adj" fmla="val 50909"/>
            </a:avLst>
          </a:prstGeom>
          <a:solidFill>
            <a:srgbClr val="D961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79476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RISK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22960" y="4526280"/>
            <a:ext cx="6126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Recommended: Project BOOST-style structured discharge — teach-back education, appointment scheduled before discharge, and a follow-up call within 48 hours.</a:t>
            </a:r>
            <a:endParaRPr lang="en-US" sz="1250" dirty="0"/>
          </a:p>
        </p:txBody>
      </p:sp>
      <p:sp>
        <p:nvSpPr>
          <p:cNvPr id="17" name="Text 14"/>
          <p:cNvSpPr/>
          <p:nvPr/>
        </p:nvSpPr>
        <p:spPr>
          <a:xfrm>
            <a:off x="7680960" y="164592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 yourself</a:t>
            </a:r>
            <a:endParaRPr lang="en-US" sz="1500" dirty="0"/>
          </a:p>
        </p:txBody>
      </p:sp>
      <p:sp>
        <p:nvSpPr>
          <p:cNvPr id="18" name="Shape 15"/>
          <p:cNvSpPr/>
          <p:nvPr/>
        </p:nvSpPr>
        <p:spPr>
          <a:xfrm>
            <a:off x="7680960" y="2057400"/>
            <a:ext cx="4023360" cy="1005840"/>
          </a:xfrm>
          <a:prstGeom prst="roundRect">
            <a:avLst>
              <a:gd name="adj" fmla="val 7273"/>
            </a:avLst>
          </a:prstGeom>
          <a:solidFill>
            <a:srgbClr val="E9F5F3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818120" y="214884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B5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hospital-readmission-capstone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5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-aa44rabxhs6wftu3fn5sdy</a:t>
            </a:r>
            <a:endParaRPr lang="en-US" sz="1150" dirty="0"/>
          </a:p>
          <a:p>
            <a:pPr indent="0" marL="0">
              <a:buNone/>
            </a:pPr>
            <a:r>
              <a:rPr lang="en-US" sz="1150" b="1" dirty="0">
                <a:solidFill>
                  <a:srgbClr val="0B5A5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.streamlit.app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7680960" y="324612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Preset low-risk &amp; high-risk example patients</a:t>
            </a:r>
            <a:endParaRPr lang="en-US" sz="1180" dirty="0"/>
          </a:p>
        </p:txBody>
      </p:sp>
      <p:sp>
        <p:nvSpPr>
          <p:cNvPr id="21" name="Text 18"/>
          <p:cNvSpPr/>
          <p:nvPr/>
        </p:nvSpPr>
        <p:spPr>
          <a:xfrm>
            <a:off x="7680960" y="384048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editable form for any patient profile</a:t>
            </a:r>
            <a:endParaRPr lang="en-US" sz="1180" dirty="0"/>
          </a:p>
        </p:txBody>
      </p:sp>
      <p:sp>
        <p:nvSpPr>
          <p:cNvPr id="22" name="Text 19"/>
          <p:cNvSpPr/>
          <p:nvPr/>
        </p:nvSpPr>
        <p:spPr>
          <a:xfrm>
            <a:off x="7680960" y="443484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the real, saved preprocessing + XGBoost pipeline</a:t>
            </a:r>
            <a:endParaRPr lang="en-US" sz="1180" dirty="0"/>
          </a:p>
        </p:txBody>
      </p:sp>
      <p:sp>
        <p:nvSpPr>
          <p:cNvPr id="23" name="Text 20"/>
          <p:cNvSpPr/>
          <p:nvPr/>
        </p:nvSpPr>
        <p:spPr>
          <a:xfrm>
            <a:off x="7680960" y="5029200"/>
            <a:ext cx="4023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80" b="1" dirty="0">
                <a:solidFill>
                  <a:srgbClr val="0B5A5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</a:t>
            </a:r>
            <a:pPr indent="0" marL="0">
              <a:lnSpc>
                <a:spcPct val="115000"/>
              </a:lnSpc>
              <a:buNone/>
            </a:pPr>
            <a:r>
              <a:rPr lang="en-US" sz="118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probability, risk tier, and intervention text</a:t>
            </a:r>
            <a:endParaRPr lang="en-US" sz="1180" dirty="0"/>
          </a:p>
        </p:txBody>
      </p:sp>
      <p:sp>
        <p:nvSpPr>
          <p:cNvPr id="24" name="Shape 21"/>
          <p:cNvSpPr/>
          <p:nvPr/>
        </p:nvSpPr>
        <p:spPr>
          <a:xfrm>
            <a:off x="7680960" y="5623560"/>
            <a:ext cx="4023360" cy="457200"/>
          </a:xfrm>
          <a:prstGeom prst="roundRect">
            <a:avLst>
              <a:gd name="adj" fmla="val 12000"/>
            </a:avLst>
          </a:prstGeom>
          <a:solidFill>
            <a:srgbClr val="FBEAEA"/>
          </a:solidFill>
          <a:ln w="12700">
            <a:solidFill>
              <a:srgbClr val="C23B3B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772400" y="5623560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C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Decision-support prototype — not a validated clinical tool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warning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731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Modest performance ceiling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731520" y="2103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ROC-AUC of ~0.68 is consistent with published readmission-prediction literature — this is a genuinely hard problem, not an implementation shortfall.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172200" y="150876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46520" y="169164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Small-subgroup uncertainty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6446520" y="21031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Fairness metrics for the smallest race and age subgroups (n&lt;300) carry wide uncertainty and should not be over-interpreted as bias.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3840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3152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Thin Very High Risk sample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31520" y="4434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260 test patients (n=31 at the extreme end) fall in this tier — its 41.5% observed rate is directionally reliable but less precise than other tiers.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6172200" y="3840480"/>
            <a:ext cx="5440680" cy="2103120"/>
          </a:xfrm>
          <a:prstGeom prst="roundRect">
            <a:avLst>
              <a:gd name="adj" fmla="val 34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46520" y="402336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C77D0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Threshold calibration trade-offs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446520" y="443484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Fixing one subgroup's recall gap shifted performance in others — any per-group threshold needs governance review, not automatic deployment.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411480"/>
            <a:ext cx="566928" cy="566928"/>
          </a:xfrm>
          <a:prstGeom prst="roundRect">
            <a:avLst>
              <a:gd name="adj" fmla="val 19355"/>
            </a:avLst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pic>
        <p:nvPicPr>
          <p:cNvPr id="3" name="Image 0" descr="icons/check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6072" y="530352"/>
            <a:ext cx="329184" cy="3291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384048"/>
            <a:ext cx="105457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1820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Key Takeaways</a:t>
            </a:r>
            <a:endParaRPr lang="en-US" sz="2700" dirty="0"/>
          </a:p>
        </p:txBody>
      </p:sp>
      <p:sp>
        <p:nvSpPr>
          <p:cNvPr id="5" name="Shape 2"/>
          <p:cNvSpPr/>
          <p:nvPr/>
        </p:nvSpPr>
        <p:spPr>
          <a:xfrm>
            <a:off x="457200" y="150876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57200" y="15087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05840" y="1490472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a leak-free, patient-grouped, honestly cross-validated readmission model — XGBoost at threshold 0.12, ROC-AUC 0.679, recall 63.7%</a:t>
            </a:r>
            <a:endParaRPr lang="en-US" sz="1330" dirty="0"/>
          </a:p>
        </p:txBody>
      </p:sp>
      <p:sp>
        <p:nvSpPr>
          <p:cNvPr id="8" name="Shape 5"/>
          <p:cNvSpPr/>
          <p:nvPr/>
        </p:nvSpPr>
        <p:spPr>
          <a:xfrm>
            <a:off x="457200" y="2221992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57200" y="2221992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005840" y="2203704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 and fixed a real SMOTE cross-validation leakage bug and a data artifact (expired patients) before finalizing the model</a:t>
            </a:r>
            <a:endParaRPr lang="en-US" sz="1330" dirty="0"/>
          </a:p>
        </p:txBody>
      </p:sp>
      <p:sp>
        <p:nvSpPr>
          <p:cNvPr id="11" name="Shape 8"/>
          <p:cNvSpPr/>
          <p:nvPr/>
        </p:nvSpPr>
        <p:spPr>
          <a:xfrm>
            <a:off x="457200" y="2935224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2935224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005840" y="2916936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Made the model explainable with SHAP, including an honest false-negative case study, not just headline accuracy</a:t>
            </a:r>
            <a:endParaRPr lang="en-US" sz="1330" dirty="0"/>
          </a:p>
        </p:txBody>
      </p:sp>
      <p:sp>
        <p:nvSpPr>
          <p:cNvPr id="14" name="Shape 11"/>
          <p:cNvSpPr/>
          <p:nvPr/>
        </p:nvSpPr>
        <p:spPr>
          <a:xfrm>
            <a:off x="457200" y="3648456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57200" y="3648456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1005840" y="3630168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Audited fairness across race, gender, and age; found and partially mitigated a real recall gap in the [50–60) age band</a:t>
            </a:r>
            <a:endParaRPr lang="en-US" sz="1330" dirty="0"/>
          </a:p>
        </p:txBody>
      </p:sp>
      <p:sp>
        <p:nvSpPr>
          <p:cNvPr id="17" name="Shape 14"/>
          <p:cNvSpPr/>
          <p:nvPr/>
        </p:nvSpPr>
        <p:spPr>
          <a:xfrm>
            <a:off x="457200" y="4361688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57200" y="43616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6"/>
          <p:cNvSpPr/>
          <p:nvPr/>
        </p:nvSpPr>
        <p:spPr>
          <a:xfrm>
            <a:off x="1005840" y="4343400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Translated risk scores into 4 literature-grounded, actionable clinical intervention tiers</a:t>
            </a:r>
            <a:endParaRPr lang="en-US" sz="1330" dirty="0"/>
          </a:p>
        </p:txBody>
      </p:sp>
      <p:sp>
        <p:nvSpPr>
          <p:cNvPr id="20" name="Shape 17"/>
          <p:cNvSpPr/>
          <p:nvPr/>
        </p:nvSpPr>
        <p:spPr>
          <a:xfrm>
            <a:off x="457200" y="5074920"/>
            <a:ext cx="411480" cy="411480"/>
          </a:xfrm>
          <a:prstGeom prst="roundRect">
            <a:avLst>
              <a:gd name="adj" fmla="val 48889"/>
            </a:avLst>
          </a:prstGeom>
          <a:solidFill>
            <a:srgbClr val="0F76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457200" y="5074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1005840" y="5056632"/>
            <a:ext cx="10698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30" dirty="0">
                <a:solidFill>
                  <a:srgbClr val="3A455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Designed a full deployment architecture and shipped a working, publicly hosted demo application</a:t>
            </a:r>
            <a:endParaRPr lang="en-US" sz="133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Hospital Readmission Risk Prediction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6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4206240"/>
            <a:ext cx="3657600" cy="3657600"/>
          </a:xfrm>
          <a:prstGeom prst="ellipse">
            <a:avLst/>
          </a:prstGeom>
          <a:solidFill>
            <a:srgbClr val="1E3358"/>
          </a:solidFill>
          <a:ln w="12700">
            <a:solidFill>
              <a:srgbClr val="333333"/>
            </a:solidFill>
            <a:prstDash val="solid"/>
          </a:ln>
        </p:spPr>
      </p:sp>
      <p:pic>
        <p:nvPicPr>
          <p:cNvPr id="3" name="Image 0" descr="icons/boo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"/>
            <a:ext cx="502920" cy="50292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97280" y="411480"/>
            <a:ext cx="73152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References</a:t>
            </a:r>
            <a:endParaRPr lang="en-US" sz="2600" dirty="0"/>
          </a:p>
        </p:txBody>
      </p:sp>
      <p:sp>
        <p:nvSpPr>
          <p:cNvPr id="5" name="Text 2"/>
          <p:cNvSpPr/>
          <p:nvPr/>
        </p:nvSpPr>
        <p:spPr>
          <a:xfrm>
            <a:off x="1097280" y="12344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[1]  Kansagara, D., et al. (2011). Risk prediction models for hospital readmission: a systematic review. JAMA, 306(15), 1688–1698.</a:t>
            </a:r>
            <a:endParaRPr lang="en-US" sz="1130" dirty="0"/>
          </a:p>
        </p:txBody>
      </p:sp>
      <p:sp>
        <p:nvSpPr>
          <p:cNvPr id="6" name="Text 3"/>
          <p:cNvSpPr/>
          <p:nvPr/>
        </p:nvSpPr>
        <p:spPr>
          <a:xfrm>
            <a:off x="1097280" y="16916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[2]  Strack, B., et al. (2014). Impact of HbA1c measurement on hospital readmission rates. BioMed Research International.</a:t>
            </a:r>
            <a:endParaRPr lang="en-US" sz="1130" dirty="0"/>
          </a:p>
        </p:txBody>
      </p:sp>
      <p:sp>
        <p:nvSpPr>
          <p:cNvPr id="7" name="Text 4"/>
          <p:cNvSpPr/>
          <p:nvPr/>
        </p:nvSpPr>
        <p:spPr>
          <a:xfrm>
            <a:off x="1097280" y="21488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[3]  Chawla, N. V., et al. (2002). SMOTE: Synthetic Minority Over-sampling Technique. JAIR, 16, 321–357.</a:t>
            </a:r>
            <a:endParaRPr lang="en-US" sz="1130" dirty="0"/>
          </a:p>
        </p:txBody>
      </p:sp>
      <p:sp>
        <p:nvSpPr>
          <p:cNvPr id="8" name="Text 5"/>
          <p:cNvSpPr/>
          <p:nvPr/>
        </p:nvSpPr>
        <p:spPr>
          <a:xfrm>
            <a:off x="1097280" y="26060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[4]  Lundberg, S. M., &amp; Lee, S.-I. (2017). A Unified Approach to Interpreting Model Predictions. NeurIPS.</a:t>
            </a:r>
            <a:endParaRPr lang="en-US" sz="1130" dirty="0"/>
          </a:p>
        </p:txBody>
      </p:sp>
      <p:sp>
        <p:nvSpPr>
          <p:cNvPr id="9" name="Text 6"/>
          <p:cNvSpPr/>
          <p:nvPr/>
        </p:nvSpPr>
        <p:spPr>
          <a:xfrm>
            <a:off x="1097280" y="30632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[5]  Coleman, E. A., et al. (2006). The Care Transitions Intervention. Archives of Internal Medicine, 166(17), 1822–1828.</a:t>
            </a:r>
            <a:endParaRPr lang="en-US" sz="1130" dirty="0"/>
          </a:p>
        </p:txBody>
      </p:sp>
      <p:sp>
        <p:nvSpPr>
          <p:cNvPr id="10" name="Text 7"/>
          <p:cNvSpPr/>
          <p:nvPr/>
        </p:nvSpPr>
        <p:spPr>
          <a:xfrm>
            <a:off x="1097280" y="35204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[6]  Society of Hospital Medicine. Project BOOST Implementation Guide.</a:t>
            </a:r>
            <a:endParaRPr lang="en-US" sz="1130" dirty="0"/>
          </a:p>
        </p:txBody>
      </p:sp>
      <p:sp>
        <p:nvSpPr>
          <p:cNvPr id="11" name="Text 8"/>
          <p:cNvSpPr/>
          <p:nvPr/>
        </p:nvSpPr>
        <p:spPr>
          <a:xfrm>
            <a:off x="1097280" y="3977640"/>
            <a:ext cx="10607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30" dirty="0">
                <a:solidFill>
                  <a:srgbClr val="CBD5E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[7]  UCI Machine Learning Repository. Diabetes 130-US Hospitals for Years 1999–2008 Data Set.</a:t>
            </a:r>
            <a:endParaRPr lang="en-US" sz="1130" dirty="0"/>
          </a:p>
        </p:txBody>
      </p:sp>
      <p:sp>
        <p:nvSpPr>
          <p:cNvPr id="12" name="Shape 9"/>
          <p:cNvSpPr/>
          <p:nvPr/>
        </p:nvSpPr>
        <p:spPr>
          <a:xfrm>
            <a:off x="457200" y="4846320"/>
            <a:ext cx="11274552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50749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Questions?</a:t>
            </a:r>
            <a:endParaRPr lang="en-US" sz="2400" dirty="0"/>
          </a:p>
        </p:txBody>
      </p:sp>
      <p:sp>
        <p:nvSpPr>
          <p:cNvPr id="14" name="Text 11"/>
          <p:cNvSpPr/>
          <p:nvPr/>
        </p:nvSpPr>
        <p:spPr>
          <a:xfrm>
            <a:off x="457200" y="56692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code, notebooks, results, and the live demo app are available in the project GitHub repository.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2026-07-28T11:50:52Z</dcterms:created>
  <dcterms:modified xsi:type="dcterms:W3CDTF">2026-07-28T11:50:52Z</dcterms:modified>
</cp:coreProperties>
</file>